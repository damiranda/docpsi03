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73" r:id="rId2"/>
    <p:sldId id="508" r:id="rId3"/>
    <p:sldId id="454" r:id="rId4"/>
    <p:sldId id="421" r:id="rId5"/>
    <p:sldId id="445" r:id="rId6"/>
    <p:sldId id="423" r:id="rId7"/>
    <p:sldId id="441" r:id="rId8"/>
    <p:sldId id="442" r:id="rId9"/>
    <p:sldId id="443" r:id="rId10"/>
    <p:sldId id="440" r:id="rId11"/>
    <p:sldId id="424" r:id="rId12"/>
    <p:sldId id="425" r:id="rId13"/>
    <p:sldId id="438" r:id="rId14"/>
    <p:sldId id="432" r:id="rId15"/>
    <p:sldId id="433" r:id="rId16"/>
    <p:sldId id="439" r:id="rId17"/>
    <p:sldId id="435" r:id="rId18"/>
    <p:sldId id="460" r:id="rId19"/>
    <p:sldId id="436" r:id="rId20"/>
    <p:sldId id="459" r:id="rId21"/>
    <p:sldId id="532" r:id="rId22"/>
    <p:sldId id="533" r:id="rId23"/>
    <p:sldId id="534" r:id="rId24"/>
    <p:sldId id="535" r:id="rId25"/>
    <p:sldId id="529" r:id="rId26"/>
    <p:sldId id="530" r:id="rId27"/>
    <p:sldId id="536" r:id="rId28"/>
    <p:sldId id="537" r:id="rId29"/>
    <p:sldId id="531" r:id="rId30"/>
    <p:sldId id="455" r:id="rId31"/>
    <p:sldId id="509" r:id="rId32"/>
    <p:sldId id="389" r:id="rId33"/>
    <p:sldId id="390" r:id="rId34"/>
    <p:sldId id="391" r:id="rId35"/>
    <p:sldId id="392" r:id="rId36"/>
    <p:sldId id="393" r:id="rId37"/>
    <p:sldId id="394" r:id="rId38"/>
    <p:sldId id="268" r:id="rId39"/>
    <p:sldId id="343" r:id="rId40"/>
    <p:sldId id="294" r:id="rId41"/>
    <p:sldId id="327" r:id="rId42"/>
    <p:sldId id="538" r:id="rId43"/>
    <p:sldId id="539" r:id="rId44"/>
    <p:sldId id="540" r:id="rId45"/>
    <p:sldId id="541" r:id="rId46"/>
    <p:sldId id="542" r:id="rId47"/>
    <p:sldId id="543" r:id="rId48"/>
    <p:sldId id="507" r:id="rId49"/>
    <p:sldId id="413" r:id="rId50"/>
    <p:sldId id="414" r:id="rId51"/>
    <p:sldId id="415" r:id="rId52"/>
    <p:sldId id="551" r:id="rId53"/>
    <p:sldId id="510" r:id="rId54"/>
    <p:sldId id="426" r:id="rId55"/>
    <p:sldId id="552" r:id="rId56"/>
    <p:sldId id="553" r:id="rId57"/>
    <p:sldId id="524" r:id="rId58"/>
    <p:sldId id="554" r:id="rId59"/>
    <p:sldId id="525" r:id="rId60"/>
    <p:sldId id="526" r:id="rId61"/>
    <p:sldId id="527" r:id="rId62"/>
    <p:sldId id="528" r:id="rId63"/>
    <p:sldId id="555" r:id="rId64"/>
    <p:sldId id="521" r:id="rId65"/>
    <p:sldId id="556" r:id="rId66"/>
    <p:sldId id="557" r:id="rId67"/>
    <p:sldId id="558" r:id="rId68"/>
    <p:sldId id="559" r:id="rId69"/>
    <p:sldId id="560" r:id="rId7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90C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2"/>
    <p:restoredTop sz="92868"/>
  </p:normalViewPr>
  <p:slideViewPr>
    <p:cSldViewPr>
      <p:cViewPr varScale="1">
        <p:scale>
          <a:sx n="100" d="100"/>
          <a:sy n="100" d="100"/>
        </p:scale>
        <p:origin x="18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361A-2B66-41A7-9D2D-6252A4B04C92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2BB09-40DB-4382-AD2F-3584471A2E4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913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31A52-7865-4A62-8E17-220CFF1EE2F9}" type="slidenum">
              <a:rPr lang="es-CL" smtClean="0"/>
              <a:pPr/>
              <a:t>1</a:t>
            </a:fld>
            <a:endParaRPr lang="es-CL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31A52-7865-4A62-8E17-220CFF1EE2F9}" type="slidenum">
              <a:rPr lang="es-CL" smtClean="0"/>
              <a:pPr/>
              <a:t>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0194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331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2502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5455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656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351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942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6752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2890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4372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1510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4489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31A52-7865-4A62-8E17-220CFF1EE2F9}" type="slidenum">
              <a:rPr lang="es-CL" smtClean="0"/>
              <a:pPr/>
              <a:t>20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11525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3192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2078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6787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1793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064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503C4B-4E19-43B0-BB8C-01BA75C32CD4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0948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31A52-7865-4A62-8E17-220CFF1EE2F9}" type="slidenum">
              <a:rPr lang="es-CL" smtClean="0"/>
              <a:pPr/>
              <a:t>31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93560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36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950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37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3774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38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760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85372" indent="-302066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208265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91571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74878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28C1F87-DB0D-4F28-A61E-524F3929D24F}" type="slidenum">
              <a:rPr lang="es-ES_tradnl" sz="1300">
                <a:latin typeface="Times New Roman" charset="0"/>
              </a:rPr>
              <a:pPr eaLnBrk="1" hangingPunct="1"/>
              <a:t>40</a:t>
            </a:fld>
            <a:endParaRPr lang="es-ES_tradnl" sz="1300">
              <a:latin typeface="Times New Roman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7425" cy="3597275"/>
          </a:xfrm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CL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443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41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3704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42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1672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43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78332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44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82258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45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521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500">
                <a:solidFill>
                  <a:schemeClr val="tx1"/>
                </a:solidFill>
                <a:latin typeface="Arial" charset="0"/>
              </a:defRPr>
            </a:lvl1pPr>
            <a:lvl2pPr marL="785372" indent="-302066" eaLnBrk="0" hangingPunct="0">
              <a:defRPr sz="2500">
                <a:solidFill>
                  <a:schemeClr val="tx1"/>
                </a:solidFill>
                <a:latin typeface="Arial" charset="0"/>
              </a:defRPr>
            </a:lvl2pPr>
            <a:lvl3pPr marL="1208265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3pPr>
            <a:lvl4pPr marL="1691571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4pPr>
            <a:lvl5pPr marL="2174878" indent="-241653" eaLnBrk="0" hangingPunct="0">
              <a:defRPr sz="25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28C1F87-DB0D-4F28-A61E-524F3929D24F}" type="slidenum">
              <a:rPr lang="es-ES_tradnl" sz="1300">
                <a:latin typeface="Times New Roman" charset="0"/>
              </a:rPr>
              <a:pPr eaLnBrk="1" hangingPunct="1"/>
              <a:t>46</a:t>
            </a:fld>
            <a:endParaRPr lang="es-ES_tradnl" sz="1300">
              <a:latin typeface="Times New Roman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7425" cy="3597275"/>
          </a:xfrm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CL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617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72BB09-40DB-4382-AD2F-3584471A2E46}" type="slidenum">
              <a:rPr lang="es-CL" smtClean="0"/>
              <a:t>47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64210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31A52-7865-4A62-8E17-220CFF1EE2F9}" type="slidenum">
              <a:rPr lang="es-CL" smtClean="0"/>
              <a:pPr/>
              <a:t>48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777023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26732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22699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52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33628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0D7D4-7A23-41E4-83FA-36386047E893}" type="slidenum">
              <a:rPr lang="es-CL" smtClean="0"/>
              <a:t>53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68167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5572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4824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5118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4034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35604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59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95842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98411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91774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17937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66614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5429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9679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ED01B-C1A3-4429-B18A-876B2FD1C683}" type="slidenum">
              <a:rPr lang="es-CL" smtClean="0"/>
              <a:pPr/>
              <a:t>69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3816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335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302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349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020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579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405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5473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045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0678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995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6242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86267" indent="-186267">
              <a:buClr>
                <a:srgbClr val="7C8597"/>
              </a:buClr>
              <a:defRPr sz="1500"/>
            </a:lvl1pPr>
            <a:lvl2pPr marL="395817" indent="-186267">
              <a:buClr>
                <a:srgbClr val="7C8597"/>
              </a:buClr>
              <a:defRPr sz="1500"/>
            </a:lvl2pPr>
            <a:lvl3pPr marL="605367" indent="-186267">
              <a:buClr>
                <a:srgbClr val="7C8597"/>
              </a:buClr>
              <a:defRPr sz="1500"/>
            </a:lvl3pPr>
            <a:lvl4pPr marL="814917" indent="-186267">
              <a:buClr>
                <a:srgbClr val="7C8597"/>
              </a:buClr>
              <a:defRPr sz="1500"/>
            </a:lvl4pPr>
            <a:lvl5pPr marL="1024467" indent="-186267">
              <a:buClr>
                <a:srgbClr val="7C8597"/>
              </a:buClr>
              <a:defRPr sz="15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hape 86"/>
          <p:cNvSpPr>
            <a:spLocks noGrp="1"/>
          </p:cNvSpPr>
          <p:nvPr>
            <p:ph type="body" sz="quarter" idx="13"/>
          </p:nvPr>
        </p:nvSpPr>
        <p:spPr>
          <a:xfrm>
            <a:off x="604838" y="1035065"/>
            <a:ext cx="7877175" cy="39964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None/>
              <a:defRPr sz="1313">
                <a:solidFill>
                  <a:srgbClr val="91919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</a:lstStyle>
          <a:p>
            <a:r>
              <a:t>Subtitle text</a:t>
            </a:r>
          </a:p>
        </p:txBody>
      </p:sp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21053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00A2F-6A2F-4F3E-B53D-AED7D1D9BC44}" type="datetimeFigureOut">
              <a:rPr lang="es-CL" smtClean="0"/>
              <a:t>11-05-26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3E2B4-8261-4DCE-B0E3-606FD4F7A15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99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00.png"/><Relationship Id="rId9" Type="http://schemas.openxmlformats.org/officeDocument/2006/relationships/image" Target="../media/image16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000" dirty="0">
                <a:latin typeface="Tw Cen MT"/>
                <a:cs typeface="Tw Cen MT"/>
              </a:rPr>
              <a:t>Asociación de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2000" dirty="0">
                <a:solidFill>
                  <a:schemeClr val="tx1"/>
                </a:solidFill>
                <a:latin typeface="Tw Cen MT"/>
                <a:cs typeface="Tw Cen MT"/>
              </a:rPr>
              <a:t>Daniel Miranda</a:t>
            </a:r>
          </a:p>
          <a:p>
            <a:r>
              <a:rPr lang="es-CL" sz="2000" dirty="0">
                <a:solidFill>
                  <a:schemeClr val="tx1"/>
                </a:solidFill>
                <a:latin typeface="Tw Cen MT"/>
                <a:cs typeface="Tw Cen MT"/>
              </a:rPr>
              <a:t>Metodologías Cuantitativas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86002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7370F-C5F0-4F94-B5A5-0CD3BD00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Tw Cen MT" panose="020B0602020104020603" pitchFamily="34" charset="0"/>
              </a:rPr>
              <a:t>Contenidos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F2A56-95CF-4C69-B49C-0A10DEF68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latin typeface="Tw Cen MT" panose="020B0602020104020603" pitchFamily="34" charset="0"/>
              </a:rPr>
              <a:t>Asociación entre variables</a:t>
            </a:r>
          </a:p>
          <a:p>
            <a:r>
              <a:rPr lang="es-MX" dirty="0">
                <a:latin typeface="Tw Cen MT" panose="020B0602020104020603" pitchFamily="34" charset="0"/>
              </a:rPr>
              <a:t>Chi cuadrado</a:t>
            </a:r>
          </a:p>
          <a:p>
            <a:r>
              <a:rPr lang="es-MX" dirty="0">
                <a:latin typeface="Tw Cen MT" panose="020B0602020104020603" pitchFamily="34" charset="0"/>
              </a:rPr>
              <a:t>Correlación</a:t>
            </a:r>
          </a:p>
          <a:p>
            <a:endParaRPr lang="es-CL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1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000" dirty="0">
                <a:latin typeface="Tw Cen MT" charset="0"/>
                <a:ea typeface="Tw Cen MT" charset="0"/>
                <a:cs typeface="Tw Cen MT" charset="0"/>
              </a:rPr>
              <a:t>Chi-cuadrado</a:t>
            </a:r>
          </a:p>
        </p:txBody>
      </p:sp>
    </p:spTree>
    <p:extLst>
      <p:ext uri="{BB962C8B-B14F-4D97-AF65-F5344CB8AC3E}">
        <p14:creationId xmlns:p14="http://schemas.microsoft.com/office/powerpoint/2010/main" val="313309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Prueba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endParaRPr lang="es-CL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3568" y="3356992"/>
          <a:ext cx="7488832" cy="23111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082">
                <a:tc>
                  <a:txBody>
                    <a:bodyPr/>
                    <a:lstStyle/>
                    <a:p>
                      <a:pPr algn="ctr"/>
                      <a:endParaRPr lang="es-C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No</a:t>
                      </a:r>
                      <a:r>
                        <a:rPr lang="es-CL" sz="2400" baseline="0" dirty="0"/>
                        <a:t> ayuda</a:t>
                      </a:r>
                      <a:endParaRPr lang="es-C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Ayuda poco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Ayuda mucho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082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Mujeres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082"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Hombres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467544" y="1484784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Evalúa la relación entre dos o más </a:t>
            </a:r>
            <a:r>
              <a:rPr lang="es-CL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variables categóricas</a:t>
            </a:r>
            <a:r>
              <a:rPr lang="es-CL" dirty="0">
                <a:solidFill>
                  <a:srgbClr val="002060"/>
                </a:solidFill>
                <a:latin typeface="Tw Cen MT" charset="0"/>
                <a:ea typeface="Tw Cen MT" charset="0"/>
                <a:cs typeface="Tw Cen MT" charset="0"/>
              </a:rPr>
              <a:t> 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(nominales u ordinales). </a:t>
            </a:r>
          </a:p>
          <a:p>
            <a:pPr marL="0" indent="0">
              <a:buNone/>
            </a:pP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En este ejemplo, entre género y conductas de ayuda.</a:t>
            </a:r>
          </a:p>
        </p:txBody>
      </p:sp>
    </p:spTree>
    <p:extLst>
      <p:ext uri="{BB962C8B-B14F-4D97-AF65-F5344CB8AC3E}">
        <p14:creationId xmlns:p14="http://schemas.microsoft.com/office/powerpoint/2010/main" val="345837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La prueba </a:t>
            </a:r>
            <a:r>
              <a:rPr lang="es-ES_tradnl" sz="3900" dirty="0">
                <a:latin typeface="Symbol" charset="2"/>
              </a:rPr>
              <a:t>c</a:t>
            </a:r>
            <a:r>
              <a:rPr lang="es-ES_tradnl" sz="3900" baseline="30000" dirty="0"/>
              <a:t>2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 evalúa qué tanto se </a:t>
            </a:r>
            <a:r>
              <a:rPr lang="es-ES_tradnl" sz="3900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alejan los datos observados 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en una muestra de una </a:t>
            </a:r>
            <a:r>
              <a:rPr lang="es-ES_tradnl" sz="3900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distribución teórica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, es decir, si los datos </a:t>
            </a:r>
            <a:r>
              <a:rPr lang="es-ES_tradnl" sz="3900" i="1" dirty="0">
                <a:latin typeface="Tw Cen MT" charset="0"/>
                <a:ea typeface="Tw Cen MT" charset="0"/>
                <a:cs typeface="Tw Cen MT" charset="0"/>
              </a:rPr>
              <a:t>observados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 se ajustan a lo </a:t>
            </a:r>
            <a:r>
              <a:rPr lang="es-ES_tradnl" sz="3900" i="1" dirty="0">
                <a:latin typeface="Tw Cen MT" charset="0"/>
                <a:ea typeface="Tw Cen MT" charset="0"/>
                <a:cs typeface="Tw Cen MT" charset="0"/>
              </a:rPr>
              <a:t>esperado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 teóricamente. 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¿Qué distribución debiéramos esperar en base a la hipótesis nula?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Se puede evaluar las hipótesis acerca de proporciones poblacionales considerando </a:t>
            </a:r>
            <a:r>
              <a:rPr lang="es-ES_tradnl" sz="3900" b="1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las distancias 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(o diferencia o ajuste) entre las </a:t>
            </a:r>
            <a:r>
              <a:rPr lang="es-ES_tradnl" sz="3900" b="1" i="1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frecuencias observadas</a:t>
            </a:r>
            <a:r>
              <a:rPr lang="es-ES_tradnl" sz="3900" b="1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 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y las </a:t>
            </a:r>
            <a:r>
              <a:rPr lang="es-ES_tradnl" sz="3900" b="1" i="1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frecuencias esperada</a:t>
            </a:r>
            <a:r>
              <a:rPr lang="es-ES_tradnl" sz="3900" i="1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s </a:t>
            </a:r>
            <a:r>
              <a:rPr lang="es-ES_tradnl" sz="3900" i="1" dirty="0">
                <a:latin typeface="Tw Cen MT" charset="0"/>
                <a:ea typeface="Tw Cen MT" charset="0"/>
                <a:cs typeface="Tw Cen MT" charset="0"/>
              </a:rPr>
              <a:t>o supuestas </a:t>
            </a:r>
            <a:r>
              <a:rPr lang="es-ES_tradnl" sz="3900" dirty="0">
                <a:latin typeface="Tw Cen MT" charset="0"/>
                <a:ea typeface="Tw Cen MT" charset="0"/>
                <a:cs typeface="Tw Cen MT" charset="0"/>
              </a:rPr>
              <a:t>para cada categoría (acorde a la hipótesis nula).</a:t>
            </a:r>
          </a:p>
          <a:p>
            <a:endParaRPr lang="es-ES_tradnl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44624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Prueba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5533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80" y="404664"/>
            <a:ext cx="9145016" cy="1143000"/>
          </a:xfrm>
        </p:spPr>
        <p:txBody>
          <a:bodyPr>
            <a:noAutofit/>
          </a:bodyPr>
          <a:lstStyle/>
          <a:p>
            <a:r>
              <a:rPr lang="es-ES_tradnl" sz="3300" dirty="0">
                <a:latin typeface="Tw Cen MT" charset="0"/>
                <a:ea typeface="Tw Cen MT" charset="0"/>
                <a:cs typeface="Tw Cen MT" charset="0"/>
              </a:rPr>
              <a:t>¿Qué asociación habría entre estas dos variables?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7585" y="2204864"/>
          <a:ext cx="7632846" cy="3384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6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6094">
                <a:tc>
                  <a:txBody>
                    <a:bodyPr/>
                    <a:lstStyle/>
                    <a:p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Hombre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Mujer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Total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094">
                <a:tc>
                  <a:txBody>
                    <a:bodyPr/>
                    <a:lstStyle/>
                    <a:p>
                      <a:r>
                        <a:rPr lang="es-CL" sz="2500" dirty="0"/>
                        <a:t>Fuma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b="0" dirty="0"/>
                        <a:t>50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b="0" dirty="0"/>
                        <a:t>0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094">
                <a:tc>
                  <a:txBody>
                    <a:bodyPr/>
                    <a:lstStyle/>
                    <a:p>
                      <a:r>
                        <a:rPr lang="es-CL" sz="2500" dirty="0"/>
                        <a:t>No Fuma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0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094">
                <a:tc>
                  <a:txBody>
                    <a:bodyPr/>
                    <a:lstStyle/>
                    <a:p>
                      <a:r>
                        <a:rPr lang="es-CL" sz="2500" dirty="0"/>
                        <a:t>Total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100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67544" y="4365104"/>
            <a:ext cx="8424936" cy="2007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CL" sz="2400" dirty="0"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9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98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_tradnl" dirty="0">
                <a:latin typeface="Tw Cen MT" charset="0"/>
                <a:ea typeface="Tw Cen MT" charset="0"/>
                <a:cs typeface="Tw Cen MT" charset="0"/>
              </a:rPr>
              <a:t>y en esta distribución ¿qué asociación habría entre estas dos variables?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5576" y="2276872"/>
          <a:ext cx="7488832" cy="3240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0090">
                <a:tc>
                  <a:txBody>
                    <a:bodyPr/>
                    <a:lstStyle/>
                    <a:p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Hombre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Mujer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Total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090">
                <a:tc>
                  <a:txBody>
                    <a:bodyPr/>
                    <a:lstStyle/>
                    <a:p>
                      <a:r>
                        <a:rPr lang="es-CL" sz="2500" dirty="0"/>
                        <a:t>Fuma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25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25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090">
                <a:tc>
                  <a:txBody>
                    <a:bodyPr/>
                    <a:lstStyle/>
                    <a:p>
                      <a:r>
                        <a:rPr lang="es-CL" sz="2500" dirty="0"/>
                        <a:t>No Fuma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25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25</a:t>
                      </a:r>
                      <a:endParaRPr lang="es-CL" sz="25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090">
                <a:tc>
                  <a:txBody>
                    <a:bodyPr/>
                    <a:lstStyle/>
                    <a:p>
                      <a:r>
                        <a:rPr lang="es-CL" sz="2500" dirty="0"/>
                        <a:t>Total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50</a:t>
                      </a:r>
                      <a:endParaRPr lang="es-CL" sz="25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500" dirty="0"/>
                        <a:t>100</a:t>
                      </a:r>
                      <a:endParaRPr lang="es-CL" sz="25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67544" y="4365104"/>
            <a:ext cx="8424936" cy="2007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CL" sz="2400" dirty="0"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8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89756"/>
            <a:ext cx="9011344" cy="1143000"/>
          </a:xfrm>
        </p:spPr>
        <p:txBody>
          <a:bodyPr>
            <a:noAutofit/>
          </a:bodyPr>
          <a:lstStyle/>
          <a:p>
            <a:r>
              <a:rPr lang="es-ES_tradnl" sz="3500" dirty="0">
                <a:latin typeface="Tw Cen MT" charset="0"/>
                <a:ea typeface="Tw Cen MT" charset="0"/>
                <a:cs typeface="Tw Cen MT" charset="0"/>
              </a:rPr>
              <a:t>Formula abreviada de </a:t>
            </a:r>
            <a:r>
              <a:rPr lang="es-CL" sz="3600" dirty="0">
                <a:latin typeface="Symbol" charset="2"/>
              </a:rPr>
              <a:t>c</a:t>
            </a:r>
            <a:r>
              <a:rPr lang="es-CL" sz="3500" baseline="30000" dirty="0">
                <a:latin typeface="Tw Cen MT" charset="0"/>
                <a:ea typeface="Tw Cen MT" charset="0"/>
                <a:cs typeface="Tw Cen MT" charset="0"/>
              </a:rPr>
              <a:t>2 </a:t>
            </a:r>
            <a:r>
              <a:rPr lang="es-ES_tradnl" sz="3500" dirty="0">
                <a:latin typeface="Tw Cen MT" charset="0"/>
                <a:ea typeface="Tw Cen MT" charset="0"/>
                <a:cs typeface="Tw Cen MT" charset="0"/>
              </a:rPr>
              <a:t>en tablas de contingencia de 2 X 2 con 1 grado de libertad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896544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lvl="0" indent="0">
              <a:spcBef>
                <a:spcPts val="0"/>
              </a:spcBef>
              <a:buNone/>
            </a:pPr>
            <a:r>
              <a:rPr lang="es-ES_tradnl" dirty="0"/>
              <a:t> </a:t>
            </a:r>
          </a:p>
          <a:p>
            <a:pPr marL="0" lvl="0" indent="0">
              <a:spcBef>
                <a:spcPts val="0"/>
              </a:spcBef>
              <a:buNone/>
            </a:pPr>
            <a:endParaRPr lang="es-ES_tradnl" sz="4300" baseline="30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CL" sz="4300" baseline="30000" dirty="0"/>
              <a:t> </a:t>
            </a:r>
            <a:r>
              <a:rPr lang="es-CL" sz="4300" i="1" dirty="0"/>
              <a:t>fe</a:t>
            </a:r>
            <a:r>
              <a:rPr lang="es-CL" sz="4300" i="1" baseline="-25000" dirty="0"/>
              <a:t>a</a:t>
            </a:r>
            <a:r>
              <a:rPr lang="es-CL" sz="4300" dirty="0">
                <a:latin typeface="Symbol" charset="2"/>
              </a:rPr>
              <a:t> =     (</a:t>
            </a:r>
            <a:r>
              <a:rPr lang="es-CL" sz="4300" i="1" dirty="0"/>
              <a:t>a + b) (a+c)</a:t>
            </a:r>
            <a:r>
              <a:rPr lang="es-CL" sz="4300" baseline="30000" dirty="0"/>
              <a:t> </a:t>
            </a:r>
            <a:endParaRPr lang="es-CL" sz="4300" i="1" dirty="0"/>
          </a:p>
          <a:p>
            <a:pPr marL="0" indent="0">
              <a:spcBef>
                <a:spcPts val="0"/>
              </a:spcBef>
              <a:buNone/>
            </a:pPr>
            <a:r>
              <a:rPr lang="es-ES_tradnl" sz="4300" dirty="0"/>
              <a:t>       </a:t>
            </a:r>
            <a:r>
              <a:rPr lang="es-CL" sz="4300" dirty="0">
                <a:latin typeface="Symbol" charset="2"/>
              </a:rPr>
              <a:t>		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L" sz="4300" i="1" dirty="0">
                <a:latin typeface="Symbol" charset="2"/>
              </a:rPr>
              <a:t>		</a:t>
            </a:r>
            <a:r>
              <a:rPr lang="es-CL" sz="4300" i="1" dirty="0"/>
              <a:t>N</a:t>
            </a:r>
            <a:endParaRPr lang="es-ES_tradnl" sz="4300" dirty="0"/>
          </a:p>
          <a:p>
            <a:pPr marL="0" indent="0">
              <a:spcBef>
                <a:spcPts val="0"/>
              </a:spcBef>
              <a:buNone/>
            </a:pPr>
            <a:endParaRPr lang="es-CL" dirty="0">
              <a:latin typeface="Tw Cen MT" charset="0"/>
              <a:ea typeface="Tw Cen MT" charset="0"/>
              <a:cs typeface="Tw Cen MT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s-CL" sz="3600" dirty="0">
                <a:latin typeface="Tw Cen MT" charset="0"/>
                <a:ea typeface="Tw Cen MT" charset="0"/>
                <a:cs typeface="Tw Cen MT" charset="0"/>
              </a:rPr>
              <a:t>Las frecuencias </a:t>
            </a:r>
            <a:r>
              <a:rPr lang="es-CL" sz="3600" b="1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esperadas al azar </a:t>
            </a:r>
            <a:r>
              <a:rPr lang="es-CL" sz="3600" dirty="0">
                <a:latin typeface="Tw Cen MT" charset="0"/>
                <a:ea typeface="Tw Cen MT" charset="0"/>
                <a:cs typeface="Tw Cen MT" charset="0"/>
              </a:rPr>
              <a:t>se pueden calcular multiplicando la frecuencia total de la columna y de la fila, dividiendo por el </a:t>
            </a:r>
            <a:r>
              <a:rPr lang="es-CL" sz="3600" i="1" dirty="0">
                <a:latin typeface="Tw Cen MT" charset="0"/>
                <a:ea typeface="Tw Cen MT" charset="0"/>
                <a:cs typeface="Tw Cen MT" charset="0"/>
              </a:rPr>
              <a:t>N</a:t>
            </a:r>
            <a:r>
              <a:rPr lang="es-CL" sz="3600" dirty="0">
                <a:latin typeface="Tw Cen MT" charset="0"/>
                <a:ea typeface="Tw Cen MT" charset="0"/>
                <a:cs typeface="Tw Cen MT" charset="0"/>
              </a:rPr>
              <a:t> total</a:t>
            </a:r>
          </a:p>
          <a:p>
            <a:pPr marL="0" indent="0">
              <a:spcBef>
                <a:spcPts val="0"/>
              </a:spcBef>
              <a:buNone/>
            </a:pPr>
            <a:endParaRPr lang="es-ES_tradnl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15616" y="1484784"/>
          <a:ext cx="6552728" cy="1944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8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699">
                <a:tc>
                  <a:txBody>
                    <a:bodyPr/>
                    <a:lstStyle/>
                    <a:p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No</a:t>
                      </a:r>
                      <a:r>
                        <a:rPr lang="es-CL" sz="2200" baseline="0" dirty="0"/>
                        <a:t> ayuda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Ayuda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200" dirty="0"/>
                        <a:t>Total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95">
                <a:tc>
                  <a:txBody>
                    <a:bodyPr/>
                    <a:lstStyle/>
                    <a:p>
                      <a:r>
                        <a:rPr lang="es-CL" sz="2200" dirty="0"/>
                        <a:t>Mujeres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b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(a</a:t>
                      </a:r>
                      <a:r>
                        <a:rPr lang="es-CL" sz="2200" baseline="0" dirty="0"/>
                        <a:t> + b)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495">
                <a:tc>
                  <a:txBody>
                    <a:bodyPr/>
                    <a:lstStyle/>
                    <a:p>
                      <a:r>
                        <a:rPr lang="es-CL" sz="2200" dirty="0"/>
                        <a:t>Hombres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c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d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(c</a:t>
                      </a:r>
                      <a:r>
                        <a:rPr lang="es-CL" sz="2200" baseline="0" dirty="0"/>
                        <a:t> + d)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26">
                <a:tc>
                  <a:txBody>
                    <a:bodyPr/>
                    <a:lstStyle/>
                    <a:p>
                      <a:r>
                        <a:rPr lang="es-CL" sz="2200" dirty="0"/>
                        <a:t>Total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(a</a:t>
                      </a:r>
                      <a:r>
                        <a:rPr lang="es-CL" sz="2200" baseline="0" dirty="0"/>
                        <a:t> + c)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(b</a:t>
                      </a:r>
                      <a:r>
                        <a:rPr lang="es-CL" sz="2200" baseline="0" dirty="0"/>
                        <a:t> + d)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N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1331640" y="4365104"/>
            <a:ext cx="2736304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28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1434" y="302270"/>
            <a:ext cx="8229600" cy="1143000"/>
          </a:xfrm>
        </p:spPr>
        <p:txBody>
          <a:bodyPr>
            <a:normAutofit/>
          </a:bodyPr>
          <a:lstStyle/>
          <a:p>
            <a:r>
              <a:rPr lang="es-ES_tradnl" sz="3000" dirty="0">
                <a:latin typeface="Tw Cen MT" charset="0"/>
                <a:ea typeface="Tw Cen MT" charset="0"/>
                <a:cs typeface="Tw Cen MT" charset="0"/>
              </a:rPr>
              <a:t>Formula abreviada de </a:t>
            </a:r>
            <a:r>
              <a:rPr lang="es-CL" sz="3200" dirty="0">
                <a:latin typeface="Symbol" charset="2"/>
              </a:rPr>
              <a:t>c</a:t>
            </a:r>
            <a:r>
              <a:rPr lang="es-CL" sz="3000" baseline="30000" dirty="0">
                <a:latin typeface="Tw Cen MT" charset="0"/>
                <a:ea typeface="Tw Cen MT" charset="0"/>
                <a:cs typeface="Tw Cen MT" charset="0"/>
              </a:rPr>
              <a:t>2 </a:t>
            </a:r>
            <a:r>
              <a:rPr lang="es-ES_tradnl" sz="3000" dirty="0">
                <a:latin typeface="Tw Cen MT" charset="0"/>
                <a:ea typeface="Tw Cen MT" charset="0"/>
                <a:cs typeface="Tw Cen MT" charset="0"/>
              </a:rPr>
              <a:t>en tablas de contingencia de 2 X 2 con 1 grado de libertad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es-ES_tradnl" sz="2400" baseline="30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CL" sz="2400" baseline="30000" dirty="0"/>
              <a:t> </a:t>
            </a:r>
            <a:r>
              <a:rPr lang="es-CL" sz="2400" i="1" dirty="0"/>
              <a:t>fe</a:t>
            </a:r>
            <a:r>
              <a:rPr lang="es-CL" sz="2400" i="1" baseline="-25000" dirty="0"/>
              <a:t>a</a:t>
            </a:r>
            <a:r>
              <a:rPr lang="es-CL" sz="2400" dirty="0">
                <a:latin typeface="Symbol" charset="2"/>
              </a:rPr>
              <a:t> =     (</a:t>
            </a:r>
            <a:r>
              <a:rPr lang="es-CL" sz="2400" i="1" dirty="0"/>
              <a:t>a + b) (a+c)</a:t>
            </a:r>
            <a:r>
              <a:rPr lang="es-CL" sz="2400" baseline="30000" dirty="0"/>
              <a:t> </a:t>
            </a:r>
            <a:endParaRPr lang="es-CL" sz="2400" i="1" dirty="0"/>
          </a:p>
          <a:p>
            <a:pPr marL="0" indent="0">
              <a:spcBef>
                <a:spcPts val="0"/>
              </a:spcBef>
              <a:buNone/>
            </a:pPr>
            <a:r>
              <a:rPr lang="es-ES_tradnl" sz="2400" dirty="0"/>
              <a:t>       </a:t>
            </a:r>
            <a:r>
              <a:rPr lang="es-CL" sz="2400" dirty="0">
                <a:latin typeface="Symbol" charset="2"/>
              </a:rPr>
              <a:t>               </a:t>
            </a:r>
            <a:r>
              <a:rPr lang="es-CL" sz="2400" i="1" dirty="0"/>
              <a:t>N</a:t>
            </a:r>
            <a:endParaRPr lang="es-ES_tradnl" sz="2400" dirty="0"/>
          </a:p>
          <a:p>
            <a:pPr marL="0" lvl="0" indent="0">
              <a:spcBef>
                <a:spcPts val="0"/>
              </a:spcBef>
              <a:buNone/>
            </a:pPr>
            <a:endParaRPr lang="es-ES_tradnl" sz="2400" baseline="30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CL" sz="2400" baseline="30000" dirty="0"/>
              <a:t> </a:t>
            </a:r>
            <a:r>
              <a:rPr lang="es-CL" sz="2400" i="1" dirty="0"/>
              <a:t>fe</a:t>
            </a:r>
            <a:r>
              <a:rPr lang="es-CL" sz="2400" i="1" baseline="-25000" dirty="0"/>
              <a:t>b</a:t>
            </a:r>
            <a:r>
              <a:rPr lang="es-CL" sz="2400" dirty="0">
                <a:latin typeface="Symbol" charset="2"/>
              </a:rPr>
              <a:t> =     (</a:t>
            </a:r>
            <a:r>
              <a:rPr lang="es-CL" sz="2400" i="1" dirty="0"/>
              <a:t>a + b) (b+d)</a:t>
            </a:r>
            <a:r>
              <a:rPr lang="es-CL" sz="2400" baseline="30000" dirty="0"/>
              <a:t> </a:t>
            </a:r>
            <a:endParaRPr lang="es-CL" sz="2400" i="1" dirty="0"/>
          </a:p>
          <a:p>
            <a:pPr marL="0" indent="0">
              <a:spcBef>
                <a:spcPts val="0"/>
              </a:spcBef>
              <a:buNone/>
            </a:pPr>
            <a:r>
              <a:rPr lang="es-CL" sz="2400" i="1" dirty="0"/>
              <a:t>	          N</a:t>
            </a:r>
            <a:endParaRPr lang="es-ES_tradnl" sz="2400" dirty="0"/>
          </a:p>
          <a:p>
            <a:pPr marL="0" lvl="0" indent="0">
              <a:spcBef>
                <a:spcPts val="0"/>
              </a:spcBef>
              <a:buNone/>
            </a:pPr>
            <a:endParaRPr lang="es-ES_tradnl" sz="2400" baseline="30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CL" sz="2400" baseline="30000" dirty="0"/>
              <a:t> </a:t>
            </a:r>
            <a:r>
              <a:rPr lang="es-CL" sz="2400" i="1" dirty="0"/>
              <a:t>fe</a:t>
            </a:r>
            <a:r>
              <a:rPr lang="es-CL" sz="2400" i="1" baseline="-25000" dirty="0"/>
              <a:t>c</a:t>
            </a:r>
            <a:r>
              <a:rPr lang="es-CL" sz="2400" dirty="0">
                <a:latin typeface="Symbol" charset="2"/>
              </a:rPr>
              <a:t> =     (</a:t>
            </a:r>
            <a:r>
              <a:rPr lang="es-CL" sz="2400" i="1" dirty="0"/>
              <a:t>c + d) (a+c)</a:t>
            </a:r>
            <a:r>
              <a:rPr lang="es-CL" sz="2400" baseline="30000" dirty="0"/>
              <a:t> </a:t>
            </a:r>
            <a:endParaRPr lang="es-CL" sz="2400" i="1" dirty="0"/>
          </a:p>
          <a:p>
            <a:pPr marL="0" indent="0">
              <a:spcBef>
                <a:spcPts val="0"/>
              </a:spcBef>
              <a:buNone/>
            </a:pPr>
            <a:r>
              <a:rPr lang="es-ES_tradnl" sz="2400" dirty="0"/>
              <a:t>       </a:t>
            </a:r>
            <a:r>
              <a:rPr lang="es-CL" sz="2400" dirty="0">
                <a:latin typeface="Symbol" charset="2"/>
              </a:rPr>
              <a:t>	         </a:t>
            </a:r>
            <a:r>
              <a:rPr lang="es-CL" sz="2400" i="1" dirty="0"/>
              <a:t>N</a:t>
            </a:r>
            <a:endParaRPr lang="es-ES_tradnl" sz="2400" dirty="0"/>
          </a:p>
          <a:p>
            <a:pPr marL="0" lvl="0" indent="0">
              <a:spcBef>
                <a:spcPts val="0"/>
              </a:spcBef>
              <a:buNone/>
            </a:pPr>
            <a:endParaRPr lang="es-ES_tradnl" sz="2400" baseline="30000" dirty="0"/>
          </a:p>
          <a:p>
            <a:pPr marL="0" lvl="0" indent="0">
              <a:spcBef>
                <a:spcPts val="0"/>
              </a:spcBef>
              <a:buNone/>
            </a:pPr>
            <a:r>
              <a:rPr lang="es-CL" sz="2400" baseline="30000" dirty="0"/>
              <a:t> </a:t>
            </a:r>
            <a:r>
              <a:rPr lang="es-CL" sz="2400" i="1" dirty="0"/>
              <a:t>fe</a:t>
            </a:r>
            <a:r>
              <a:rPr lang="es-CL" sz="2400" i="1" baseline="-25000" dirty="0"/>
              <a:t>d</a:t>
            </a:r>
            <a:r>
              <a:rPr lang="es-CL" sz="2400" dirty="0">
                <a:latin typeface="Symbol" charset="2"/>
              </a:rPr>
              <a:t> =     (</a:t>
            </a:r>
            <a:r>
              <a:rPr lang="es-CL" sz="2400" i="1" dirty="0"/>
              <a:t>c + d) (b+d)</a:t>
            </a:r>
            <a:r>
              <a:rPr lang="es-CL" sz="2400" baseline="30000" dirty="0"/>
              <a:t> </a:t>
            </a:r>
            <a:r>
              <a:rPr lang="es-CL" sz="2400" dirty="0">
                <a:latin typeface="Symbol" charset="2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L" sz="2400" i="1" dirty="0">
                <a:latin typeface="Symbol" charset="2"/>
              </a:rPr>
              <a:t>	           </a:t>
            </a:r>
            <a:r>
              <a:rPr lang="es-CL" sz="2400" i="1" dirty="0"/>
              <a:t>N</a:t>
            </a:r>
            <a:endParaRPr lang="es-ES_tradnl" sz="2400" dirty="0"/>
          </a:p>
          <a:p>
            <a:endParaRPr lang="es-ES_tradnl" sz="2400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1570297" y="2276872"/>
            <a:ext cx="136815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>
            <a:off x="1570297" y="3284984"/>
            <a:ext cx="136815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>
            <a:off x="1570297" y="4221088"/>
            <a:ext cx="136815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>
            <a:off x="1570297" y="5229200"/>
            <a:ext cx="1368152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3"/>
          <p:cNvGraphicFramePr>
            <a:graphicFrameLocks noGrp="1"/>
          </p:cNvGraphicFramePr>
          <p:nvPr/>
        </p:nvGraphicFramePr>
        <p:xfrm>
          <a:off x="3851920" y="2060848"/>
          <a:ext cx="4968552" cy="29585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6538">
                <a:tc>
                  <a:txBody>
                    <a:bodyPr/>
                    <a:lstStyle/>
                    <a:p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No</a:t>
                      </a:r>
                      <a:r>
                        <a:rPr lang="es-CL" sz="2200" baseline="0" dirty="0"/>
                        <a:t> ayuda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Ayuda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200" dirty="0"/>
                        <a:t>Total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258">
                <a:tc>
                  <a:txBody>
                    <a:bodyPr/>
                    <a:lstStyle/>
                    <a:p>
                      <a:r>
                        <a:rPr lang="es-CL" sz="2200" dirty="0"/>
                        <a:t>Mujeres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a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b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(a</a:t>
                      </a:r>
                      <a:r>
                        <a:rPr lang="es-CL" sz="2200" baseline="0" dirty="0"/>
                        <a:t> + b)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258">
                <a:tc>
                  <a:txBody>
                    <a:bodyPr/>
                    <a:lstStyle/>
                    <a:p>
                      <a:r>
                        <a:rPr lang="es-CL" sz="2200" dirty="0"/>
                        <a:t>Hombres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c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d</a:t>
                      </a:r>
                      <a:endParaRPr lang="es-CL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(c</a:t>
                      </a:r>
                      <a:r>
                        <a:rPr lang="es-CL" sz="2200" baseline="0" dirty="0"/>
                        <a:t> + d)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258">
                <a:tc>
                  <a:txBody>
                    <a:bodyPr/>
                    <a:lstStyle/>
                    <a:p>
                      <a:r>
                        <a:rPr lang="es-CL" sz="2200" dirty="0"/>
                        <a:t>Total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(a</a:t>
                      </a:r>
                      <a:r>
                        <a:rPr lang="es-CL" sz="2200" baseline="0" dirty="0"/>
                        <a:t> + c)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(b</a:t>
                      </a:r>
                      <a:r>
                        <a:rPr lang="es-CL" sz="2200" baseline="0" dirty="0"/>
                        <a:t> + d)</a:t>
                      </a:r>
                      <a:endParaRPr lang="es-CL" sz="22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200" dirty="0"/>
                        <a:t>N</a:t>
                      </a:r>
                      <a:endParaRPr lang="es-CL" sz="22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4139952" y="5019948"/>
          <a:ext cx="35845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82600" progId="Equation.3">
                  <p:embed/>
                </p:oleObj>
              </mc:Choice>
              <mc:Fallback>
                <p:oleObj name="Equation" r:id="rId2" imgW="1104900" imgH="482600" progId="Equation.3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5019948"/>
                        <a:ext cx="35845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77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¿Cuáles serían las frecuencias esperadas en base a la hipótesis nula?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7624" y="1556792"/>
          <a:ext cx="6576390" cy="22242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5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No</a:t>
                      </a:r>
                      <a:r>
                        <a:rPr lang="es-CL" baseline="0" dirty="0"/>
                        <a:t> ayuda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Ayuda poco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Ayuda mucho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Mujeres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7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23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30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60</a:t>
                      </a:r>
                      <a:endParaRPr lang="es-CL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Hombres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33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37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20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90</a:t>
                      </a:r>
                      <a:endParaRPr lang="es-CL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40</a:t>
                      </a:r>
                      <a:endParaRPr lang="es-CL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60</a:t>
                      </a:r>
                      <a:endParaRPr lang="es-CL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50</a:t>
                      </a:r>
                      <a:endParaRPr lang="es-CL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150</a:t>
                      </a:r>
                      <a:endParaRPr lang="es-CL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467544" y="4365104"/>
            <a:ext cx="8424936" cy="20070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charset="0"/>
              <a:buChar char="•"/>
            </a:pPr>
            <a:r>
              <a:rPr lang="es-CL" sz="2400" dirty="0">
                <a:latin typeface="Tw Cen MT" charset="0"/>
                <a:ea typeface="Tw Cen MT" charset="0"/>
                <a:cs typeface="Tw Cen MT" charset="0"/>
              </a:rPr>
              <a:t>En tablas de contingencia donde los </a:t>
            </a:r>
            <a:r>
              <a:rPr lang="es-CL" sz="2400" i="1" dirty="0">
                <a:latin typeface="Tw Cen MT" charset="0"/>
                <a:ea typeface="Tw Cen MT" charset="0"/>
                <a:cs typeface="Tw Cen MT" charset="0"/>
              </a:rPr>
              <a:t>n</a:t>
            </a:r>
            <a:r>
              <a:rPr lang="es-CL" sz="2400" dirty="0">
                <a:latin typeface="Tw Cen MT" charset="0"/>
                <a:ea typeface="Tw Cen MT" charset="0"/>
                <a:cs typeface="Tw Cen MT" charset="0"/>
              </a:rPr>
              <a:t> de fila y columna son distintos, calcular la frecuencia esperada es un poco más complicado…</a:t>
            </a:r>
          </a:p>
          <a:p>
            <a:pPr marL="342900" indent="-342900" algn="l">
              <a:buFont typeface="Arial" charset="0"/>
              <a:buChar char="•"/>
            </a:pPr>
            <a:r>
              <a:rPr lang="es-CL" sz="2400" dirty="0">
                <a:latin typeface="Tw Cen MT" charset="0"/>
                <a:ea typeface="Tw Cen MT" charset="0"/>
                <a:cs typeface="Tw Cen MT" charset="0"/>
              </a:rPr>
              <a:t>Las frecuencias esperadas al azar se pueden calcular multiplicando la frecuencia total de la columna y de la fila, dividiendo por el </a:t>
            </a:r>
            <a:r>
              <a:rPr lang="es-CL" sz="2400" i="1" dirty="0">
                <a:latin typeface="Tw Cen MT" charset="0"/>
                <a:ea typeface="Tw Cen MT" charset="0"/>
                <a:cs typeface="Tw Cen MT" charset="0"/>
              </a:rPr>
              <a:t>N</a:t>
            </a:r>
            <a:r>
              <a:rPr lang="es-CL" sz="2400" dirty="0">
                <a:latin typeface="Tw Cen MT" charset="0"/>
                <a:ea typeface="Tw Cen MT" charset="0"/>
                <a:cs typeface="Tw Cen MT" charset="0"/>
              </a:rPr>
              <a:t> total</a:t>
            </a:r>
          </a:p>
        </p:txBody>
      </p:sp>
    </p:spTree>
    <p:extLst>
      <p:ext uri="{BB962C8B-B14F-4D97-AF65-F5344CB8AC3E}">
        <p14:creationId xmlns:p14="http://schemas.microsoft.com/office/powerpoint/2010/main" val="188705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2"/>
            <a:ext cx="8229600" cy="966741"/>
          </a:xfrm>
        </p:spPr>
        <p:txBody>
          <a:bodyPr/>
          <a:lstStyle/>
          <a:p>
            <a:pPr eaLnBrk="1" hangingPunct="1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dirty="0"/>
              <a:t>:  la fórmula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36772"/>
            <a:ext cx="8229600" cy="323373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Básicamente consiste en evaluar cuanto se alejan las frecuencias observadas de las esperadas</a:t>
            </a:r>
          </a:p>
          <a:p>
            <a:pPr eaLnBrk="1" hangingPunct="1">
              <a:lnSpc>
                <a:spcPct val="90000"/>
              </a:lnSpc>
            </a:pPr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Si aceptamos la hipótesis nula decimos que las </a:t>
            </a:r>
            <a:r>
              <a:rPr lang="es-CL" sz="2800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frecuencias observadas se ajustan a las esperadas </a:t>
            </a:r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(esto es, no hay diferencias entre lo observado y lo esperado acorde a la hipótesis nula)</a:t>
            </a:r>
          </a:p>
          <a:p>
            <a:pPr>
              <a:lnSpc>
                <a:spcPct val="90000"/>
              </a:lnSpc>
            </a:pPr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La fórmula para el estadístico </a:t>
            </a:r>
            <a:r>
              <a:rPr lang="es-CL" sz="2800" dirty="0">
                <a:latin typeface="Symbol" charset="2"/>
              </a:rPr>
              <a:t>c</a:t>
            </a:r>
            <a:r>
              <a:rPr lang="es-CL" sz="2800" baseline="30000" dirty="0"/>
              <a:t>2</a:t>
            </a:r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 es básicamente sumar las diferencias (al cuadrado y dividir por la frecuencia esperada)</a:t>
            </a: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3059832" y="5157192"/>
          <a:ext cx="35845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900" imgH="482600" progId="Equation.3">
                  <p:embed/>
                </p:oleObj>
              </mc:Choice>
              <mc:Fallback>
                <p:oleObj name="Equation" r:id="rId3" imgW="1104900" imgH="482600" progId="Equation.3">
                  <p:embed/>
                  <p:pic>
                    <p:nvPicPr>
                      <p:cNvPr id="245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5157192"/>
                        <a:ext cx="35845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763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pPr eaLnBrk="1" hangingPunct="1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dirty="0"/>
              <a:t>:  la fórmula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550" y="1132249"/>
            <a:ext cx="8693946" cy="388092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Las diferencias corresponden a la distribución aleatoria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baseline="30000" dirty="0">
                <a:latin typeface="Tw Cen MT" charset="0"/>
                <a:ea typeface="Tw Cen MT" charset="0"/>
                <a:cs typeface="Tw Cen MT" charset="0"/>
              </a:rPr>
              <a:t> 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que se basa en la distribución normal.</a:t>
            </a:r>
          </a:p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Para evaluar la </a:t>
            </a:r>
            <a:r>
              <a:rPr lang="es-CL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significación estadística 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de </a:t>
            </a:r>
            <a:r>
              <a:rPr lang="es-CL" b="1" dirty="0">
                <a:solidFill>
                  <a:srgbClr val="FF0000"/>
                </a:solidFill>
                <a:latin typeface="Symbol" charset="2"/>
              </a:rPr>
              <a:t>c</a:t>
            </a:r>
            <a:r>
              <a:rPr lang="es-CL" b="1" baseline="30000" dirty="0">
                <a:solidFill>
                  <a:srgbClr val="FF0000"/>
                </a:solidFill>
              </a:rPr>
              <a:t>2</a:t>
            </a:r>
            <a:r>
              <a:rPr lang="es-CL" b="1" dirty="0">
                <a:solidFill>
                  <a:srgbClr val="FF0000"/>
                </a:solidFill>
              </a:rPr>
              <a:t> </a:t>
            </a:r>
            <a:r>
              <a:rPr lang="es-CL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observado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 debemos comparar dicho valor con el que se obtiene de la distribución (tabla) de </a:t>
            </a:r>
            <a:r>
              <a:rPr lang="es-CL" b="1" dirty="0">
                <a:solidFill>
                  <a:srgbClr val="190CC2"/>
                </a:solidFill>
                <a:latin typeface="Symbol" charset="2"/>
              </a:rPr>
              <a:t>c</a:t>
            </a:r>
            <a:r>
              <a:rPr lang="es-CL" b="1" baseline="30000" dirty="0">
                <a:solidFill>
                  <a:srgbClr val="190CC2"/>
                </a:solidFill>
              </a:rPr>
              <a:t>2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 , que indica la probabilidad de ocurrencia de dicho valor con ciertos grados de libertad. 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endParaRPr lang="es-CL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646040" y="5283926"/>
          <a:ext cx="35845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900" imgH="482600" progId="Equation.3">
                  <p:embed/>
                </p:oleObj>
              </mc:Choice>
              <mc:Fallback>
                <p:oleObj name="Equation" r:id="rId3" imgW="1104900" imgH="4826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040" y="5283926"/>
                        <a:ext cx="35845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9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08106"/>
            <a:ext cx="9011344" cy="1143000"/>
          </a:xfrm>
        </p:spPr>
        <p:txBody>
          <a:bodyPr>
            <a:noAutofit/>
          </a:bodyPr>
          <a:lstStyle/>
          <a:p>
            <a:r>
              <a:rPr lang="es-ES_tradnl" sz="3500" dirty="0"/>
              <a:t>Formula abreviada de </a:t>
            </a:r>
            <a:r>
              <a:rPr lang="es-CL" sz="3500" dirty="0">
                <a:latin typeface="Symbol" charset="2"/>
              </a:rPr>
              <a:t>c</a:t>
            </a:r>
            <a:r>
              <a:rPr lang="es-CL" sz="3500" baseline="30000" dirty="0"/>
              <a:t>2 </a:t>
            </a:r>
            <a:r>
              <a:rPr lang="es-ES_tradnl" sz="3500" dirty="0"/>
              <a:t>en tablas de contingencia de 2 X 2 con 1 grado de libertad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lvl="0" indent="0">
              <a:spcBef>
                <a:spcPts val="0"/>
              </a:spcBef>
              <a:buNone/>
            </a:pPr>
            <a:r>
              <a:rPr lang="es-ES_tradnl" dirty="0"/>
              <a:t>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dirty="0">
                <a:latin typeface="Symbol" charset="2"/>
              </a:rPr>
              <a:t> =          N (</a:t>
            </a:r>
            <a:r>
              <a:rPr lang="es-CL" i="1" dirty="0"/>
              <a:t>ad – bc)</a:t>
            </a:r>
            <a:r>
              <a:rPr lang="es-CL" baseline="30000" dirty="0"/>
              <a:t> 2 </a:t>
            </a:r>
            <a:endParaRPr lang="es-CL" i="1" dirty="0"/>
          </a:p>
          <a:p>
            <a:pPr marL="0" indent="0">
              <a:spcBef>
                <a:spcPts val="0"/>
              </a:spcBef>
              <a:buNone/>
            </a:pPr>
            <a:r>
              <a:rPr lang="es-ES_tradnl" dirty="0"/>
              <a:t>       </a:t>
            </a:r>
            <a:r>
              <a:rPr lang="es-CL" dirty="0">
                <a:latin typeface="Symbol" charset="2"/>
              </a:rPr>
              <a:t>(</a:t>
            </a:r>
            <a:r>
              <a:rPr lang="es-CL" i="1" dirty="0"/>
              <a:t>a+c) </a:t>
            </a:r>
            <a:r>
              <a:rPr lang="es-CL" dirty="0">
                <a:latin typeface="Symbol" charset="2"/>
              </a:rPr>
              <a:t>(</a:t>
            </a:r>
            <a:r>
              <a:rPr lang="es-CL" i="1" dirty="0"/>
              <a:t>b+d)</a:t>
            </a:r>
            <a:r>
              <a:rPr lang="es-ES_tradnl" dirty="0"/>
              <a:t> </a:t>
            </a:r>
            <a:r>
              <a:rPr lang="es-CL" dirty="0">
                <a:latin typeface="Symbol" charset="2"/>
              </a:rPr>
              <a:t>(</a:t>
            </a:r>
            <a:r>
              <a:rPr lang="es-CL" i="1" dirty="0"/>
              <a:t>a+b)</a:t>
            </a:r>
            <a:r>
              <a:rPr lang="es-ES_tradnl" dirty="0"/>
              <a:t> </a:t>
            </a:r>
            <a:r>
              <a:rPr lang="es-CL" dirty="0">
                <a:latin typeface="Symbol" charset="2"/>
              </a:rPr>
              <a:t>(</a:t>
            </a:r>
            <a:r>
              <a:rPr lang="es-CL" i="1" dirty="0"/>
              <a:t>c+d)</a:t>
            </a:r>
            <a:endParaRPr lang="es-ES_tradnl" dirty="0"/>
          </a:p>
          <a:p>
            <a:pPr marL="0" indent="0">
              <a:spcBef>
                <a:spcPts val="0"/>
              </a:spcBef>
              <a:buNone/>
            </a:pPr>
            <a:endParaRPr lang="es-ES_tradnl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3648" y="1772816"/>
          <a:ext cx="6912768" cy="26563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4412">
                <a:tc>
                  <a:txBody>
                    <a:bodyPr/>
                    <a:lstStyle/>
                    <a:p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No</a:t>
                      </a:r>
                      <a:r>
                        <a:rPr lang="es-CL" baseline="0" dirty="0"/>
                        <a:t> ayuda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Ayuda poco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631">
                <a:tc>
                  <a:txBody>
                    <a:bodyPr/>
                    <a:lstStyle/>
                    <a:p>
                      <a:r>
                        <a:rPr lang="es-CL" dirty="0"/>
                        <a:t>Mujeres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a</a:t>
                      </a:r>
                      <a:endParaRPr lang="es-C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b</a:t>
                      </a:r>
                      <a:endParaRPr lang="es-C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(a</a:t>
                      </a:r>
                      <a:r>
                        <a:rPr lang="es-CL" sz="2000" baseline="0" dirty="0"/>
                        <a:t> + b)</a:t>
                      </a:r>
                      <a:endParaRPr lang="es-CL" sz="2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631">
                <a:tc>
                  <a:txBody>
                    <a:bodyPr/>
                    <a:lstStyle/>
                    <a:p>
                      <a:r>
                        <a:rPr lang="es-CL" dirty="0"/>
                        <a:t>Hombres</a:t>
                      </a:r>
                      <a:endParaRPr lang="es-C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c</a:t>
                      </a:r>
                      <a:endParaRPr lang="es-C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d</a:t>
                      </a:r>
                      <a:endParaRPr lang="es-C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(c</a:t>
                      </a:r>
                      <a:r>
                        <a:rPr lang="es-CL" sz="2000" baseline="0" dirty="0"/>
                        <a:t> + d)</a:t>
                      </a:r>
                      <a:endParaRPr lang="es-CL" sz="2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631"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(a</a:t>
                      </a:r>
                      <a:r>
                        <a:rPr lang="es-CL" sz="2000" baseline="0" dirty="0"/>
                        <a:t> + c)</a:t>
                      </a:r>
                      <a:endParaRPr lang="es-CL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(b</a:t>
                      </a:r>
                      <a:r>
                        <a:rPr lang="es-CL" sz="2000" baseline="0" dirty="0"/>
                        <a:t> + d)</a:t>
                      </a:r>
                      <a:endParaRPr lang="es-CL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N</a:t>
                      </a:r>
                      <a:endParaRPr lang="es-CL" sz="20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Conector recto 5"/>
          <p:cNvCxnSpPr/>
          <p:nvPr/>
        </p:nvCxnSpPr>
        <p:spPr>
          <a:xfrm>
            <a:off x="1259632" y="5517232"/>
            <a:ext cx="4032448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889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53752"/>
            <a:ext cx="8229600" cy="1143000"/>
          </a:xfrm>
        </p:spPr>
        <p:txBody>
          <a:bodyPr/>
          <a:lstStyle/>
          <a:p>
            <a:pPr algn="l"/>
            <a:r>
              <a:rPr lang="es-CL" dirty="0"/>
              <a:t>Grados de libertad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01182" y="3126603"/>
            <a:ext cx="806489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s-CL" sz="2400" dirty="0"/>
              <a:t>Los totales ya están dados, porque el estadístico se basa en la diferencia entre la frecuencia esperada y la observada.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s-CL" sz="2400" dirty="0"/>
              <a:t>Nuestra tabla tiene dos grados de libertad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23528" y="4847456"/>
            <a:ext cx="4320480" cy="1490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endParaRPr lang="es-CL" sz="2000" dirty="0"/>
          </a:p>
        </p:txBody>
      </p:sp>
      <p:sp>
        <p:nvSpPr>
          <p:cNvPr id="4" name="Rectangle 3"/>
          <p:cNvSpPr/>
          <p:nvPr/>
        </p:nvSpPr>
        <p:spPr>
          <a:xfrm>
            <a:off x="323528" y="908720"/>
            <a:ext cx="4572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s-CL" dirty="0"/>
              <a:t>No todos los valores son «libres» ya que pueden estar determinados por el resto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0698" y="4373095"/>
          <a:ext cx="6576390" cy="22242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5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No ayuda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Ayuda poco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Ayuda mucho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Mujeres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60</a:t>
                      </a:r>
                      <a:endParaRPr lang="es-C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Hombres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90</a:t>
                      </a:r>
                      <a:endParaRPr lang="es-C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r>
                        <a:rPr lang="es-CL" dirty="0"/>
                        <a:t>Total</a:t>
                      </a:r>
                      <a:endParaRPr lang="es-C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40</a:t>
                      </a:r>
                      <a:endParaRPr lang="es-C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60</a:t>
                      </a:r>
                      <a:endParaRPr lang="es-C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50</a:t>
                      </a:r>
                      <a:endParaRPr lang="es-CL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150</a:t>
                      </a:r>
                      <a:endParaRPr lang="es-C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403376" y="2608783"/>
            <a:ext cx="54809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400" i="1" dirty="0"/>
              <a:t>Cantidad de filas menos uno por cantidad de columnas menos uno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23528" y="1556792"/>
            <a:ext cx="8064896" cy="648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s-CL" dirty="0"/>
              <a:t>La fórmula para tablas de contingencia 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3608" y="2001034"/>
            <a:ext cx="385610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4000" i="1" dirty="0"/>
              <a:t>df = (j – 1) (i – 1)</a:t>
            </a:r>
            <a:endParaRPr lang="es-CL" sz="4000" dirty="0"/>
          </a:p>
        </p:txBody>
      </p:sp>
    </p:spTree>
    <p:extLst>
      <p:ext uri="{BB962C8B-B14F-4D97-AF65-F5344CB8AC3E}">
        <p14:creationId xmlns:p14="http://schemas.microsoft.com/office/powerpoint/2010/main" val="312352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/>
              <a:t>Distribución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br>
              <a:rPr lang="es-CL" baseline="30000" dirty="0"/>
            </a:br>
            <a:r>
              <a:rPr lang="es-CL" sz="4000" dirty="0"/>
              <a:t>Puntos de corte (equivalentes a </a:t>
            </a:r>
            <a:r>
              <a:rPr lang="es-CL" sz="4000" i="1" dirty="0"/>
              <a:t>z</a:t>
            </a:r>
            <a:r>
              <a:rPr lang="es-CL" sz="4000" dirty="0"/>
              <a:t> = 1.96)</a:t>
            </a:r>
            <a:endParaRPr lang="es-CL" dirty="0"/>
          </a:p>
        </p:txBody>
      </p:sp>
      <p:pic>
        <p:nvPicPr>
          <p:cNvPr id="5" name="Picture 2" descr="http://upload.wikimedia.org/wikipedia/en/thumb/c/c5/Chi-square_distributionPDF.svg/1000px-Chi-square_distributionPDF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4536504" cy="34023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5580111" y="1556792"/>
          <a:ext cx="2952328" cy="4128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1" u="none" strike="noStrike" dirty="0" err="1">
                          <a:effectLst/>
                        </a:rPr>
                        <a:t>df</a:t>
                      </a:r>
                      <a:endParaRPr lang="en-GB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2400" b="1" dirty="0">
                          <a:latin typeface="Symbol" charset="2"/>
                        </a:rPr>
                        <a:t>c</a:t>
                      </a:r>
                      <a:r>
                        <a:rPr lang="es-CL" sz="2400" b="1" baseline="30000" dirty="0"/>
                        <a:t>2 </a:t>
                      </a:r>
                      <a:r>
                        <a:rPr lang="en-GB" sz="2400" b="1" u="none" strike="noStrike" dirty="0">
                          <a:effectLst/>
                        </a:rPr>
                        <a:t>(</a:t>
                      </a:r>
                      <a:r>
                        <a:rPr lang="en-GB" sz="2400" b="1" i="1" u="none" strike="noStrike" dirty="0">
                          <a:effectLst/>
                        </a:rPr>
                        <a:t>p</a:t>
                      </a:r>
                      <a:r>
                        <a:rPr lang="en-GB" sz="2400" b="1" u="none" strike="noStrike" dirty="0">
                          <a:effectLst/>
                        </a:rPr>
                        <a:t> = .05)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3.84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2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5.99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7.82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4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9.49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11.07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6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12.59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14.07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8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15.51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16.92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10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18.31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052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845947"/>
            <a:ext cx="6707088" cy="6012053"/>
          </a:xfrm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71600"/>
          </a:xfrm>
        </p:spPr>
        <p:txBody>
          <a:bodyPr>
            <a:normAutofit/>
          </a:bodyPr>
          <a:lstStyle/>
          <a:p>
            <a:r>
              <a:rPr lang="es-CL" dirty="0"/>
              <a:t>Distribución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9897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31979" y="119675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i="1" dirty="0" err="1"/>
              <a:t>Resultados</a:t>
            </a:r>
            <a:r>
              <a:rPr lang="en-US" sz="2200" i="1" dirty="0"/>
              <a:t> </a:t>
            </a:r>
            <a:r>
              <a:rPr lang="en-US" sz="2200" i="1" dirty="0" err="1"/>
              <a:t>basados</a:t>
            </a:r>
            <a:r>
              <a:rPr lang="en-US" sz="2200" i="1" dirty="0"/>
              <a:t> en</a:t>
            </a:r>
            <a:br>
              <a:rPr lang="en-US" sz="2200" i="1" dirty="0"/>
            </a:br>
            <a:r>
              <a:rPr lang="en-US" sz="2200" dirty="0" err="1"/>
              <a:t>Danuser</a:t>
            </a:r>
            <a:r>
              <a:rPr lang="en-US" sz="2200" dirty="0"/>
              <a:t>, B., Moser, D., Vitale-</a:t>
            </a:r>
            <a:r>
              <a:rPr lang="en-US" sz="2200" dirty="0" err="1"/>
              <a:t>Sethre</a:t>
            </a:r>
            <a:r>
              <a:rPr lang="en-US" sz="2200" dirty="0"/>
              <a:t>, T., </a:t>
            </a:r>
            <a:r>
              <a:rPr lang="en-US" sz="2200" dirty="0" err="1"/>
              <a:t>Hirsig</a:t>
            </a:r>
            <a:r>
              <a:rPr lang="en-US" sz="2200" dirty="0"/>
              <a:t>, R., &amp; Krueger, H. (2003). Performance in a Complex Task and Breathing under Odor Exposure. </a:t>
            </a:r>
            <a:r>
              <a:rPr lang="en-US" sz="2200" i="1" dirty="0"/>
              <a:t>Human Factors: The Journal of the Human Factors and Ergonomics Society</a:t>
            </a:r>
            <a:r>
              <a:rPr lang="en-US" sz="2200" dirty="0"/>
              <a:t>, </a:t>
            </a:r>
            <a:r>
              <a:rPr lang="en-US" sz="2200" i="1" dirty="0"/>
              <a:t>45</a:t>
            </a:r>
            <a:r>
              <a:rPr lang="en-US" sz="2200" dirty="0"/>
              <a:t>(4), 549-562.</a:t>
            </a:r>
            <a:endParaRPr lang="es-CL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23528" y="4847456"/>
            <a:ext cx="4320480" cy="1490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endParaRPr lang="es-CL" sz="2000" dirty="0"/>
          </a:p>
        </p:txBody>
      </p:sp>
      <p:sp>
        <p:nvSpPr>
          <p:cNvPr id="4" name="Rectangle 3"/>
          <p:cNvSpPr/>
          <p:nvPr/>
        </p:nvSpPr>
        <p:spPr>
          <a:xfrm>
            <a:off x="298054" y="188640"/>
            <a:ext cx="866643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s-CL" sz="3600" dirty="0"/>
              <a:t>Influencia de los olores en la concentración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3608" y="3068960"/>
          <a:ext cx="6413432" cy="2112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pPr algn="ctr"/>
                      <a:endParaRPr lang="es-C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Sin </a:t>
                      </a:r>
                      <a:r>
                        <a:rPr lang="es-CL" sz="2000" baseline="0" dirty="0"/>
                        <a:t>olor</a:t>
                      </a:r>
                      <a:endParaRPr lang="es-C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Mal 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Total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Aprueba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140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Falla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50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Total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100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90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190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23528" y="4847456"/>
            <a:ext cx="4320480" cy="1490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endParaRPr lang="es-CL" sz="2000" dirty="0"/>
          </a:p>
        </p:txBody>
      </p:sp>
      <p:sp>
        <p:nvSpPr>
          <p:cNvPr id="4" name="Rectangle 3"/>
          <p:cNvSpPr/>
          <p:nvPr/>
        </p:nvSpPr>
        <p:spPr>
          <a:xfrm>
            <a:off x="298054" y="188640"/>
            <a:ext cx="8666434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s-CL" sz="3600" dirty="0"/>
              <a:t>Influencia de los olores en la concentración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67544" y="1196752"/>
          <a:ext cx="6413432" cy="2112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pPr algn="ctr"/>
                      <a:endParaRPr lang="es-C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Sin </a:t>
                      </a:r>
                      <a:r>
                        <a:rPr lang="es-CL" sz="2000" baseline="0" dirty="0"/>
                        <a:t>olor</a:t>
                      </a:r>
                      <a:endParaRPr lang="es-C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Mal 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Total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Aprueba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140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Falla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50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Total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100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90</a:t>
                      </a:r>
                      <a:endParaRPr lang="es-CL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2000" dirty="0"/>
                        <a:t>190</a:t>
                      </a:r>
                      <a:endParaRPr lang="es-CL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2959" y="3726169"/>
            <a:ext cx="8656303" cy="2877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>
                <a:latin typeface="Calibri" charset="0"/>
                <a:ea typeface="Calibri" charset="0"/>
                <a:cs typeface="Calibri" charset="0"/>
              </a:rPr>
              <a:t>Los resultados apoyan la idea de que los olores desagradables disminuyen el rendimiento, mostrando una asociación significativa entre la ejecución de la tarea y la presencia de olores desagradables, </a:t>
            </a:r>
            <a:r>
              <a:rPr lang="es-CL" sz="2400" dirty="0">
                <a:latin typeface="Symbol" charset="2"/>
              </a:rPr>
              <a:t>c</a:t>
            </a:r>
            <a:r>
              <a:rPr lang="es-CL" sz="2400" baseline="30000" dirty="0">
                <a:latin typeface="Calibri" charset="0"/>
                <a:ea typeface="Calibri" charset="0"/>
                <a:cs typeface="Calibri" charset="0"/>
              </a:rPr>
              <a:t>2</a:t>
            </a:r>
            <a:r>
              <a:rPr lang="es-CL" sz="2400" dirty="0">
                <a:latin typeface="Calibri" charset="0"/>
                <a:ea typeface="Calibri" charset="0"/>
                <a:cs typeface="Calibri" charset="0"/>
              </a:rPr>
              <a:t>(1) = 28.98, </a:t>
            </a:r>
            <a:r>
              <a:rPr lang="es-CL" sz="2400" i="1" dirty="0">
                <a:latin typeface="Calibri" charset="0"/>
                <a:ea typeface="Calibri" charset="0"/>
                <a:cs typeface="Calibri" charset="0"/>
              </a:rPr>
              <a:t>p</a:t>
            </a:r>
            <a:r>
              <a:rPr lang="es-CL" sz="2400" dirty="0">
                <a:latin typeface="Calibri" charset="0"/>
                <a:ea typeface="Calibri" charset="0"/>
                <a:cs typeface="Calibri" charset="0"/>
              </a:rPr>
              <a:t> &lt; .001. </a:t>
            </a:r>
          </a:p>
          <a:p>
            <a:pPr algn="just"/>
            <a:endParaRPr lang="es-CL" sz="2400" dirty="0">
              <a:latin typeface="Calibri" charset="0"/>
              <a:ea typeface="Calibri" charset="0"/>
              <a:cs typeface="Calibri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L" sz="2400" dirty="0">
                <a:latin typeface="Calibri" charset="0"/>
                <a:ea typeface="Calibri" charset="0"/>
                <a:cs typeface="Calibri" charset="0"/>
              </a:rPr>
              <a:t>En el grupo de control, un 90% de los participantes completó la tarea con éxito, pero el porcentaje de aprobación bajó a un 55% cuando las personas fueron expuestas a un olor desagradable. </a:t>
            </a:r>
          </a:p>
        </p:txBody>
      </p:sp>
    </p:spTree>
    <p:extLst>
      <p:ext uri="{BB962C8B-B14F-4D97-AF65-F5344CB8AC3E}">
        <p14:creationId xmlns:p14="http://schemas.microsoft.com/office/powerpoint/2010/main" val="224538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dirty="0"/>
              <a:t>:  supuestos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2088232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La muestra es aleatoria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Las observaciones son independientes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El </a:t>
            </a:r>
            <a:r>
              <a:rPr lang="es-CL" sz="2800" i="1" dirty="0"/>
              <a:t>n</a:t>
            </a:r>
            <a:r>
              <a:rPr lang="es-CL" sz="2800" dirty="0"/>
              <a:t> es suficiente: las frecuencias esperadas deben ser mayores a 5 (aunque hay correcciones cuando esto no se cumple)</a:t>
            </a:r>
          </a:p>
          <a:p>
            <a:pPr>
              <a:lnSpc>
                <a:spcPct val="90000"/>
              </a:lnSpc>
            </a:pPr>
            <a:endParaRPr lang="es-CL" sz="28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32342" y="35101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dirty="0"/>
              <a:t>:  extras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6856" y="4581128"/>
            <a:ext cx="8229600" cy="20882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Una limitación importante es que no indica </a:t>
            </a:r>
            <a:r>
              <a:rPr lang="es-CL" sz="2800" i="1" dirty="0"/>
              <a:t>donde</a:t>
            </a:r>
            <a:r>
              <a:rPr lang="es-CL" sz="2800" dirty="0"/>
              <a:t> están las diferencias. Evaluar los descriptivos es fundamental en tablas de 3x2 o más.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A diferencias del coeficiente de r de pearson, </a:t>
            </a:r>
            <a:r>
              <a:rPr lang="es-CL" sz="2400" dirty="0">
                <a:latin typeface="Symbol" charset="2"/>
              </a:rPr>
              <a:t>c</a:t>
            </a:r>
            <a:r>
              <a:rPr lang="es-CL" sz="2400" baseline="30000" dirty="0"/>
              <a:t>2 </a:t>
            </a:r>
            <a:r>
              <a:rPr lang="es-CL" sz="2800" b="1" dirty="0">
                <a:solidFill>
                  <a:srgbClr val="FF0000"/>
                </a:solidFill>
              </a:rPr>
              <a:t>no indica la magnitud</a:t>
            </a:r>
            <a:r>
              <a:rPr lang="es-CL" sz="2800" dirty="0"/>
              <a:t> de la relacion, solo indica si est</a:t>
            </a:r>
            <a:r>
              <a:rPr lang="es-ES" sz="2800" dirty="0" err="1"/>
              <a:t>án</a:t>
            </a:r>
            <a:r>
              <a:rPr lang="es-ES" sz="2800" dirty="0"/>
              <a:t> o no asociada las variables (por ser variables nominales u ordinales).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18668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000" b="1" dirty="0">
                <a:latin typeface="Tw Cen MT" charset="0"/>
                <a:ea typeface="Tw Cen MT" charset="0"/>
                <a:cs typeface="Tw Cen MT" charset="0"/>
              </a:rPr>
              <a:t>Veamos a un ejemplo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62979F-F059-4E4C-8AE9-3070C26A168F}"/>
              </a:ext>
            </a:extLst>
          </p:cNvPr>
          <p:cNvSpPr txBox="1">
            <a:spLocks/>
          </p:cNvSpPr>
          <p:nvPr/>
        </p:nvSpPr>
        <p:spPr>
          <a:xfrm>
            <a:off x="685800" y="360045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4000" dirty="0">
                <a:latin typeface="Tw Cen MT" charset="0"/>
                <a:ea typeface="Tw Cen MT" charset="0"/>
                <a:cs typeface="Tw Cen MT" charset="0"/>
              </a:rPr>
              <a:t>¿Existe asociación entre la zona en que se habita y mencionar la delincuencia como problema social?</a:t>
            </a:r>
          </a:p>
        </p:txBody>
      </p:sp>
    </p:spTree>
    <p:extLst>
      <p:ext uri="{BB962C8B-B14F-4D97-AF65-F5344CB8AC3E}">
        <p14:creationId xmlns:p14="http://schemas.microsoft.com/office/powerpoint/2010/main" val="2906598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>
                <a:latin typeface="Tw Cen MT" panose="020B0602020104020603" pitchFamily="34" charset="0"/>
              </a:rPr>
              <a:t>Ejemplo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sz="4000" dirty="0">
                <a:latin typeface="Tw Cen MT" panose="020B0602020104020603" pitchFamily="34" charset="0"/>
              </a:rPr>
              <a:t>: Delincuencia y zona habitacional</a:t>
            </a:r>
            <a:endParaRPr lang="es-CL" dirty="0">
              <a:latin typeface="Tw Cen MT" panose="020B0602020104020603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7D997D9B-433D-4195-B712-E91FF7682BE3}"/>
              </a:ext>
            </a:extLst>
          </p:cNvPr>
          <p:cNvGraphicFramePr>
            <a:graphicFrameLocks noGrp="1"/>
          </p:cNvGraphicFramePr>
          <p:nvPr/>
        </p:nvGraphicFramePr>
        <p:xfrm>
          <a:off x="1379984" y="19456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556445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409215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757913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14686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 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544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Urbano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731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589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1320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2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Rural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239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0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719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129099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BF86954D-ADCE-4507-8398-37EB26435C11}"/>
              </a:ext>
            </a:extLst>
          </p:cNvPr>
          <p:cNvSpPr txBox="1">
            <a:spLocks noChangeArrowheads="1"/>
          </p:cNvSpPr>
          <p:nvPr/>
        </p:nvSpPr>
        <p:spPr>
          <a:xfrm>
            <a:off x="415211" y="3957002"/>
            <a:ext cx="8693946" cy="28803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Variable x: zona urbano/rural (categórica)</a:t>
            </a:r>
          </a:p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</a:rPr>
              <a:t>Variable y: menciona delincuencia (categórica)</a:t>
            </a:r>
            <a:endParaRPr lang="es-CL" dirty="0"/>
          </a:p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</a:rPr>
              <a:t>Ho: Las variables son independientes/ No hay asociación</a:t>
            </a:r>
          </a:p>
          <a:p>
            <a:pPr>
              <a:lnSpc>
                <a:spcPct val="110000"/>
              </a:lnSpc>
            </a:pPr>
            <a:r>
              <a:rPr lang="es-CL" dirty="0">
                <a:latin typeface="Tw Cen MT" charset="0"/>
              </a:rPr>
              <a:t>Ha: Si hay asociación</a:t>
            </a:r>
          </a:p>
        </p:txBody>
      </p:sp>
    </p:spTree>
    <p:extLst>
      <p:ext uri="{BB962C8B-B14F-4D97-AF65-F5344CB8AC3E}">
        <p14:creationId xmlns:p14="http://schemas.microsoft.com/office/powerpoint/2010/main" val="385256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>
                <a:latin typeface="Tw Cen MT" panose="020B0602020104020603" pitchFamily="34" charset="0"/>
              </a:rPr>
              <a:t>Ejemplo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sz="4000" dirty="0">
                <a:latin typeface="Tw Cen MT" panose="020B0602020104020603" pitchFamily="34" charset="0"/>
              </a:rPr>
              <a:t>: Delincuencia y zona habitacional</a:t>
            </a:r>
            <a:endParaRPr lang="es-CL" dirty="0">
              <a:latin typeface="Tw Cen MT" panose="020B0602020104020603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7D997D9B-433D-4195-B712-E91FF7682BE3}"/>
              </a:ext>
            </a:extLst>
          </p:cNvPr>
          <p:cNvGraphicFramePr>
            <a:graphicFrameLocks noGrp="1"/>
          </p:cNvGraphicFramePr>
          <p:nvPr/>
        </p:nvGraphicFramePr>
        <p:xfrm>
          <a:off x="1379984" y="19456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556445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409215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757913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14686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 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544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Urbano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731 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589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1320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2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Rural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239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0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719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1559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1290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C4F77DF3-ED36-4B1C-88F3-2A029F9110F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57200" y="3693086"/>
                <a:ext cx="8686800" cy="28902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Frecuencia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esperada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Urbano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s-MX" sz="1600" dirty="0" smtClean="0">
                        <a:latin typeface="Cambria Math" panose="02040503050406030204" pitchFamily="18" charset="0"/>
                      </a:rPr>
                      <m:t>Menciona</m:t>
                    </m:r>
                    <m:r>
                      <m:rPr>
                        <m:nor/>
                      </m:rPr>
                      <a:rPr lang="es-MX" sz="1600" dirty="0" smtClean="0">
                        <a:latin typeface="Symbol" charset="2"/>
                      </a:rPr>
                      <m:t> =</m:t>
                    </m:r>
                    <m:r>
                      <a:rPr lang="es-MX" sz="1600" i="1" baseline="30000" dirty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1320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840</m:t>
                        </m:r>
                      </m:num>
                      <m:den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1559</m:t>
                        </m:r>
                      </m:den>
                    </m:f>
                    <m:r>
                      <a:rPr lang="es-MX" sz="1600" i="1">
                        <a:latin typeface="Cambria Math" panose="02040503050406030204" pitchFamily="18" charset="0"/>
                      </a:rPr>
                      <m:t>=711,225</m:t>
                    </m:r>
                  </m:oMath>
                </a14:m>
                <a:r>
                  <a:rPr lang="es-MX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MX" sz="16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Frecuencia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esperada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Urbano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No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Menciona</m:t>
                      </m:r>
                      <m:r>
                        <m:rPr>
                          <m:nor/>
                        </m:rPr>
                        <a:rPr lang="es-MX" sz="1600" dirty="0">
                          <a:latin typeface="Symbol" charset="2"/>
                        </a:rPr>
                        <m:t> =</m:t>
                      </m:r>
                      <m:r>
                        <a:rPr lang="es-MX" sz="1600" i="1" baseline="30000" dirty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1320∗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719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1559</m:t>
                          </m:r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608,774</m:t>
                      </m:r>
                    </m:oMath>
                  </m:oMathPara>
                </a14:m>
                <a:endParaRPr lang="es-MX" sz="1600" b="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s-MX" sz="1600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Frecuencia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esperada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Rural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s-MX" sz="1600" dirty="0">
                          <a:latin typeface="Cambria Math" panose="02040503050406030204" pitchFamily="18" charset="0"/>
                        </a:rPr>
                        <m:t>Menciona</m:t>
                      </m:r>
                      <m:r>
                        <m:rPr>
                          <m:nor/>
                        </m:rPr>
                        <a:rPr lang="es-MX" sz="1600" dirty="0">
                          <a:latin typeface="Symbol" charset="2"/>
                        </a:rPr>
                        <m:t> =</m:t>
                      </m:r>
                      <m:r>
                        <a:rPr lang="es-MX" sz="1600" i="1" baseline="30000" dirty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239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∗840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1559</m:t>
                          </m:r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128,774</m:t>
                      </m:r>
                    </m:oMath>
                  </m:oMathPara>
                </a14:m>
                <a:endParaRPr lang="es-MX" sz="16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MX" sz="16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600" dirty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recuencia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esperada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Rural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No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Cambria Math" panose="02040503050406030204" pitchFamily="18" charset="0"/>
                        </a:rPr>
                        <m:t>Menciona</m:t>
                      </m:r>
                      <m:r>
                        <m:rPr>
                          <m:nor/>
                        </m:rPr>
                        <a:rPr lang="es-MX" sz="1600" b="0" i="0" dirty="0" smtClean="0">
                          <a:latin typeface="Symbol" charset="2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dirty="0" smtClean="0">
                          <a:latin typeface="Symbol" charset="2"/>
                        </a:rPr>
                        <m:t>=</m:t>
                      </m:r>
                      <m:r>
                        <a:rPr lang="es-MX" sz="1600" i="1" baseline="30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1600" i="1" baseline="30000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239∗719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1559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=110,225</m:t>
                      </m:r>
                    </m:oMath>
                  </m:oMathPara>
                </a14:m>
                <a:endParaRPr lang="es-MX" sz="16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CL" sz="1600" dirty="0">
                  <a:latin typeface="Tw Cen MT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C4F77DF3-ED36-4B1C-88F3-2A029F911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693086"/>
                <a:ext cx="8686800" cy="2890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744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>
                <a:latin typeface="Tw Cen MT" panose="020B0602020104020603" pitchFamily="34" charset="0"/>
              </a:rPr>
              <a:t>Ejemplo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sz="4000" dirty="0">
                <a:latin typeface="Tw Cen MT" panose="020B0602020104020603" pitchFamily="34" charset="0"/>
              </a:rPr>
              <a:t>: Delincuencia y zona habitacional</a:t>
            </a:r>
            <a:endParaRPr lang="es-CL" dirty="0">
              <a:latin typeface="Tw Cen MT" panose="020B0602020104020603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7D997D9B-433D-4195-B712-E91FF7682BE3}"/>
              </a:ext>
            </a:extLst>
          </p:cNvPr>
          <p:cNvGraphicFramePr>
            <a:graphicFrameLocks noGrp="1"/>
          </p:cNvGraphicFramePr>
          <p:nvPr/>
        </p:nvGraphicFramePr>
        <p:xfrm>
          <a:off x="1379984" y="19456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556445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409215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757913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14686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 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544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Urbano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731 fe=711,22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589 fe=608,77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1320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2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Rural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109 fe=128,77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130 fe=110,22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239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0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719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1559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1290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BF86954D-ADCE-4507-8398-37EB26435C1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65221" y="4743710"/>
                <a:ext cx="8693946" cy="9600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CL" sz="2400" dirty="0" smtClean="0">
                        <a:latin typeface="Symbol" charset="2"/>
                      </a:rPr>
                      <m:t>c</m:t>
                    </m:r>
                    <m:r>
                      <m:rPr>
                        <m:nor/>
                      </m:rPr>
                      <a:rPr lang="es-CL" sz="2400" baseline="30000" dirty="0" smtClean="0"/>
                      <m:t>2</m:t>
                    </m:r>
                    <m:r>
                      <m:rPr>
                        <m:nor/>
                      </m:rPr>
                      <a:rPr lang="es-MX" sz="2400" dirty="0" smtClean="0">
                        <a:latin typeface="Symbol" charset="2"/>
                      </a:rPr>
                      <m:t>=</m:t>
                    </m:r>
                    <m:r>
                      <a:rPr lang="es-MX" sz="2400" i="1" baseline="30000" dirty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731</m:t>
                            </m:r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 −7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11,22</m:t>
                            </m:r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11,22</m:t>
                        </m:r>
                      </m:den>
                    </m:f>
                  </m:oMath>
                </a14:m>
                <a:r>
                  <a:rPr lang="es-MX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589−608,77</m:t>
                            </m:r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608,77</m:t>
                        </m:r>
                      </m:den>
                    </m:f>
                  </m:oMath>
                </a14:m>
                <a:r>
                  <a:rPr lang="es-MX" sz="24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109−128,77</m:t>
                            </m:r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128,77</m:t>
                        </m:r>
                      </m:den>
                    </m:f>
                  </m:oMath>
                </a14:m>
                <a:r>
                  <a:rPr lang="es-MX" sz="24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MX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MX" sz="2400" b="0" i="1" smtClean="0">
                                <a:latin typeface="Cambria Math" panose="02040503050406030204" pitchFamily="18" charset="0"/>
                              </a:rPr>
                              <m:t>130−110,22</m:t>
                            </m:r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MX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110,22</m:t>
                        </m:r>
                      </m:den>
                    </m:f>
                  </m:oMath>
                </a14:m>
                <a:r>
                  <a:rPr lang="es-MX" sz="2400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CL" dirty="0">
                  <a:latin typeface="Tw Cen MT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BF86954D-ADCE-4507-8398-37EB26435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" y="4743710"/>
                <a:ext cx="8693946" cy="960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B3B2AE28-A78C-47BE-A76F-67967027D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7824" y="3568737"/>
          <a:ext cx="2368351" cy="1035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900" imgH="482600" progId="Equation.3">
                  <p:embed/>
                </p:oleObj>
              </mc:Choice>
              <mc:Fallback>
                <p:oleObj name="Equation" r:id="rId5" imgW="1104900" imgH="48260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B3B2AE28-A78C-47BE-A76F-67967027D8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824" y="3568737"/>
                        <a:ext cx="2368351" cy="1035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470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>
                <a:latin typeface="Tw Cen MT" panose="020B0602020104020603" pitchFamily="34" charset="0"/>
              </a:rPr>
              <a:t>Ejemplo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sz="4000" dirty="0">
                <a:latin typeface="Tw Cen MT" panose="020B0602020104020603" pitchFamily="34" charset="0"/>
              </a:rPr>
              <a:t>: Delincuencia y zona habitacional</a:t>
            </a:r>
            <a:endParaRPr lang="es-CL" dirty="0">
              <a:latin typeface="Tw Cen MT" panose="020B0602020104020603" pitchFamily="34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7D997D9B-433D-4195-B712-E91FF7682BE3}"/>
              </a:ext>
            </a:extLst>
          </p:cNvPr>
          <p:cNvGraphicFramePr>
            <a:graphicFrameLocks noGrp="1"/>
          </p:cNvGraphicFramePr>
          <p:nvPr/>
        </p:nvGraphicFramePr>
        <p:xfrm>
          <a:off x="1379984" y="194564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556445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409215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757913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14686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 menciona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544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Urbano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731 fe=711,22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589 fe=608,77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1320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2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Rural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109 fe=128,77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130 fe=110,22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239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0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Total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840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719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1559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1290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BF86954D-ADCE-4507-8398-37EB26435C1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65221" y="4743710"/>
                <a:ext cx="8693946" cy="9600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CL" sz="2400" dirty="0" smtClean="0">
                        <a:latin typeface="Symbol" charset="2"/>
                      </a:rPr>
                      <m:t>c</m:t>
                    </m:r>
                    <m:r>
                      <m:rPr>
                        <m:nor/>
                      </m:rPr>
                      <a:rPr lang="es-CL" sz="2400" baseline="30000" dirty="0" smtClean="0"/>
                      <m:t>2</m:t>
                    </m:r>
                    <m:r>
                      <m:rPr>
                        <m:nor/>
                      </m:rPr>
                      <a:rPr lang="es-MX" sz="2400" dirty="0" smtClean="0">
                        <a:latin typeface="Symbol" charset="2"/>
                      </a:rPr>
                      <m:t>=</m:t>
                    </m:r>
                    <m:r>
                      <a:rPr lang="es-MX" sz="2400" i="1" baseline="30000" dirty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391,248</m:t>
                        </m:r>
                      </m:num>
                      <m:den>
                        <m:r>
                          <a:rPr lang="es-MX" sz="24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11,22</m:t>
                        </m:r>
                      </m:den>
                    </m:f>
                  </m:oMath>
                </a14:m>
                <a:r>
                  <a:rPr lang="es-MX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390,853</m:t>
                        </m:r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608,77</m:t>
                        </m:r>
                      </m:den>
                    </m:f>
                  </m:oMath>
                </a14:m>
                <a:r>
                  <a:rPr lang="es-MX" sz="24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390,853</m:t>
                        </m:r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128,77</m:t>
                        </m:r>
                      </m:den>
                    </m:f>
                  </m:oMath>
                </a14:m>
                <a:r>
                  <a:rPr lang="es-MX" sz="2400" dirty="0"/>
                  <a:t>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391,248</m:t>
                        </m:r>
                      </m:num>
                      <m:den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110,22</m:t>
                        </m:r>
                      </m:den>
                    </m:f>
                  </m:oMath>
                </a14:m>
                <a:r>
                  <a:rPr lang="es-MX" sz="2400" dirty="0"/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CL" dirty="0">
                  <a:latin typeface="Tw Cen MT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BF86954D-ADCE-4507-8398-37EB26435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" y="4743710"/>
                <a:ext cx="8693946" cy="960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B3B2AE28-A78C-47BE-A76F-67967027D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7824" y="3568737"/>
          <a:ext cx="2368351" cy="1035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900" imgH="482600" progId="Equation.3">
                  <p:embed/>
                </p:oleObj>
              </mc:Choice>
              <mc:Fallback>
                <p:oleObj name="Equation" r:id="rId5" imgW="1104900" imgH="48260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B3B2AE28-A78C-47BE-A76F-67967027D8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824" y="3568737"/>
                        <a:ext cx="2368351" cy="1035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E5BA9EAF-6B1E-48CD-96F7-9CD8CD335A0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50054" y="5438658"/>
                <a:ext cx="8693946" cy="9600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CL" sz="2400" dirty="0" smtClean="0">
                          <a:latin typeface="Symbol" charset="2"/>
                        </a:rPr>
                        <m:t>c</m:t>
                      </m:r>
                      <m:r>
                        <m:rPr>
                          <m:nor/>
                        </m:rPr>
                        <a:rPr lang="es-CL" sz="2400" baseline="30000" dirty="0" smtClean="0"/>
                        <m:t>2</m:t>
                      </m:r>
                      <m:r>
                        <m:rPr>
                          <m:nor/>
                        </m:rPr>
                        <a:rPr lang="es-MX" sz="2400" dirty="0" smtClean="0">
                          <a:latin typeface="Symbol" charset="2"/>
                        </a:rPr>
                        <m:t>=</m:t>
                      </m:r>
                      <m:r>
                        <m:rPr>
                          <m:nor/>
                        </m:rPr>
                        <a:rPr lang="es-MX" sz="2400" b="0" i="0" dirty="0" smtClean="0">
                          <a:latin typeface="Symbol" charset="2"/>
                        </a:rPr>
                        <m:t> 0,55 + 0,64 + 3,03 + 3,55 =7,77</m:t>
                      </m:r>
                    </m:oMath>
                  </m:oMathPara>
                </a14:m>
                <a:endParaRPr lang="es-MX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CL" dirty="0">
                  <a:latin typeface="Tw Cen MT" charset="0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E5BA9EAF-6B1E-48CD-96F7-9CD8CD335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54" y="5438658"/>
                <a:ext cx="8693946" cy="9600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649440D2-2BC5-4330-A99F-4D661FAB44D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65221" y="6058420"/>
                <a:ext cx="8693946" cy="9600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CL" sz="2400" dirty="0" smtClean="0">
                        <a:latin typeface="Symbol" charset="2"/>
                      </a:rPr>
                      <m:t>c</m:t>
                    </m:r>
                    <m:r>
                      <m:rPr>
                        <m:nor/>
                      </m:rPr>
                      <a:rPr lang="es-CL" sz="2400" baseline="30000" dirty="0" smtClean="0"/>
                      <m:t>2</m:t>
                    </m:r>
                    <m:r>
                      <m:rPr>
                        <m:nor/>
                      </m:rPr>
                      <a:rPr lang="es-MX" sz="2400" dirty="0" smtClean="0">
                        <a:latin typeface="Symbol" charset="2"/>
                      </a:rPr>
                      <m:t>=</m:t>
                    </m:r>
                    <m:r>
                      <m:rPr>
                        <m:nor/>
                      </m:rPr>
                      <a:rPr lang="es-MX" sz="2400" b="0" i="0" dirty="0" smtClean="0">
                        <a:latin typeface="Symbol" charset="2"/>
                      </a:rPr>
                      <m:t> 7,77</m:t>
                    </m:r>
                  </m:oMath>
                </a14:m>
                <a:r>
                  <a:rPr lang="es-MX" sz="2400" dirty="0"/>
                  <a:t>           Grados de libertad= (j-1) * (i-1) = 1 * 1 = 1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CL" dirty="0">
                  <a:latin typeface="Tw Cen MT" charset="0"/>
                </a:endParaRPr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649440D2-2BC5-4330-A99F-4D661FAB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" y="6058420"/>
                <a:ext cx="8693946" cy="960050"/>
              </a:xfrm>
              <a:prstGeom prst="rect">
                <a:avLst/>
              </a:prstGeom>
              <a:blipFill>
                <a:blip r:embed="rId8"/>
                <a:stretch>
                  <a:fillRect l="-140" t="-3822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5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7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s-CL" dirty="0">
                <a:latin typeface="Tw Cen MT" panose="020B0602020104020603" pitchFamily="34" charset="0"/>
              </a:rPr>
              <a:t>Distribución c</a:t>
            </a:r>
            <a:r>
              <a:rPr lang="es-CL" baseline="30000" dirty="0">
                <a:latin typeface="Tw Cen MT" panose="020B0602020104020603" pitchFamily="34" charset="0"/>
              </a:rPr>
              <a:t>2</a:t>
            </a:r>
            <a:br>
              <a:rPr lang="es-CL" baseline="30000" dirty="0">
                <a:latin typeface="Tw Cen MT" panose="020B0602020104020603" pitchFamily="34" charset="0"/>
              </a:rPr>
            </a:br>
            <a:r>
              <a:rPr lang="es-CL" sz="4000" dirty="0">
                <a:latin typeface="Tw Cen MT" panose="020B0602020104020603" pitchFamily="34" charset="0"/>
              </a:rPr>
              <a:t>Puntos de corte (equivalentes a </a:t>
            </a:r>
            <a:r>
              <a:rPr lang="es-CL" sz="4000" i="1" dirty="0">
                <a:latin typeface="Tw Cen MT" panose="020B0602020104020603" pitchFamily="34" charset="0"/>
              </a:rPr>
              <a:t>z</a:t>
            </a:r>
            <a:r>
              <a:rPr lang="es-CL" sz="4000" dirty="0">
                <a:latin typeface="Tw Cen MT" panose="020B0602020104020603" pitchFamily="34" charset="0"/>
              </a:rPr>
              <a:t> = 1.96)</a:t>
            </a:r>
            <a:endParaRPr lang="es-CL" dirty="0">
              <a:latin typeface="Tw Cen MT" panose="020B0602020104020603" pitchFamily="34" charset="0"/>
            </a:endParaRPr>
          </a:p>
        </p:txBody>
      </p:sp>
      <p:pic>
        <p:nvPicPr>
          <p:cNvPr id="5" name="Picture 2" descr="http://upload.wikimedia.org/wikipedia/en/thumb/c/c5/Chi-square_distributionPDF.svg/1000px-Chi-square_distributionPDF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988840"/>
            <a:ext cx="4536504" cy="340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5580111" y="1556792"/>
          <a:ext cx="2952328" cy="4128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b="1" i="1" u="none" strike="noStrike" dirty="0" err="1">
                          <a:effectLst/>
                        </a:rPr>
                        <a:t>df</a:t>
                      </a:r>
                      <a:endParaRPr lang="en-GB" sz="2400" b="1" i="1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L" sz="2400" b="1" dirty="0">
                          <a:latin typeface="Symbol" charset="2"/>
                        </a:rPr>
                        <a:t>c</a:t>
                      </a:r>
                      <a:r>
                        <a:rPr lang="es-CL" sz="2400" b="1" baseline="30000" dirty="0"/>
                        <a:t>2 </a:t>
                      </a:r>
                      <a:r>
                        <a:rPr lang="en-GB" sz="2400" b="1" u="none" strike="noStrike" dirty="0">
                          <a:effectLst/>
                        </a:rPr>
                        <a:t>(</a:t>
                      </a:r>
                      <a:r>
                        <a:rPr lang="en-GB" sz="2400" b="1" i="1" u="none" strike="noStrike" dirty="0">
                          <a:effectLst/>
                        </a:rPr>
                        <a:t>p</a:t>
                      </a:r>
                      <a:r>
                        <a:rPr lang="en-GB" sz="2400" b="1" u="none" strike="noStrike" dirty="0">
                          <a:effectLst/>
                        </a:rPr>
                        <a:t> = .05)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3.84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2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5.99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3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7.82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4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9.49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5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11.07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6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12.59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14.07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8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15.51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>
                          <a:effectLst/>
                        </a:rPr>
                        <a:t>16.92</a:t>
                      </a:r>
                      <a:endParaRPr lang="en-GB" sz="2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10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2400" u="none" strike="noStrike" dirty="0">
                          <a:effectLst/>
                        </a:rPr>
                        <a:t>18.31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782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845947"/>
            <a:ext cx="6707088" cy="6012053"/>
          </a:xfrm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71600"/>
          </a:xfrm>
        </p:spPr>
        <p:txBody>
          <a:bodyPr>
            <a:normAutofit/>
          </a:bodyPr>
          <a:lstStyle/>
          <a:p>
            <a:r>
              <a:rPr lang="es-CL" dirty="0">
                <a:latin typeface="Tw Cen MT" panose="020B0602020104020603" pitchFamily="34" charset="0"/>
              </a:rPr>
              <a:t>Distribución c</a:t>
            </a:r>
            <a:r>
              <a:rPr lang="es-CL" baseline="30000" dirty="0">
                <a:latin typeface="Tw Cen MT" panose="020B0602020104020603" pitchFamily="34" charset="0"/>
              </a:rPr>
              <a:t>2</a:t>
            </a:r>
            <a:endParaRPr lang="es-CL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174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2A73A-764D-4AB6-971B-03800481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Tw Cen MT" panose="020B0602020104020603" pitchFamily="34" charset="0"/>
              </a:rPr>
              <a:t>En R: librería </a:t>
            </a:r>
            <a:r>
              <a:rPr lang="es-MX" dirty="0" err="1">
                <a:latin typeface="Tw Cen MT" panose="020B0602020104020603" pitchFamily="34" charset="0"/>
              </a:rPr>
              <a:t>gmodels</a:t>
            </a:r>
            <a:endParaRPr lang="es-CL" dirty="0">
              <a:latin typeface="Tw Cen MT" panose="020B06020201040206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5BAFF4-661D-42DF-9BF8-8DED4A27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196752"/>
            <a:ext cx="5804396" cy="553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73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2A73A-764D-4AB6-971B-03800481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Tw Cen MT" panose="020B0602020104020603" pitchFamily="34" charset="0"/>
              </a:rPr>
              <a:t>En R básico</a:t>
            </a:r>
            <a:endParaRPr lang="es-CL" dirty="0">
              <a:latin typeface="Tw Cen MT" panose="020B06020201040206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B46061-BDD4-4835-8EC0-BDEB081E7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384" y="1412176"/>
            <a:ext cx="5079232" cy="513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0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 </a:t>
            </a:r>
            <a:r>
              <a:rPr lang="es-CL" dirty="0">
                <a:latin typeface="Tw Cen MT" panose="020B0602020104020603" pitchFamily="34" charset="0"/>
              </a:rPr>
              <a:t>:  supuestos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2088232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>
                <a:latin typeface="Tw Cen MT" panose="020B0602020104020603" pitchFamily="34" charset="0"/>
              </a:rPr>
              <a:t>La muestra es aleatoria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>
                <a:latin typeface="Tw Cen MT" panose="020B0602020104020603" pitchFamily="34" charset="0"/>
              </a:rPr>
              <a:t>Las observaciones son independientes</a:t>
            </a:r>
          </a:p>
          <a:p>
            <a:pPr marL="514350" indent="-51435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s-CL" sz="2800" dirty="0">
                <a:latin typeface="Tw Cen MT" panose="020B0602020104020603" pitchFamily="34" charset="0"/>
              </a:rPr>
              <a:t>El </a:t>
            </a:r>
            <a:r>
              <a:rPr lang="es-CL" sz="2800" i="1" dirty="0">
                <a:latin typeface="Tw Cen MT" panose="020B0602020104020603" pitchFamily="34" charset="0"/>
              </a:rPr>
              <a:t>n</a:t>
            </a:r>
            <a:r>
              <a:rPr lang="es-CL" sz="2800" dirty="0">
                <a:latin typeface="Tw Cen MT" panose="020B0602020104020603" pitchFamily="34" charset="0"/>
              </a:rPr>
              <a:t> es suficiente: las frecuencias esperadas deben ser mayores a 5 (aunque hay correcciones cuando esto no se cumple)</a:t>
            </a:r>
          </a:p>
          <a:p>
            <a:pPr>
              <a:lnSpc>
                <a:spcPct val="90000"/>
              </a:lnSpc>
            </a:pPr>
            <a:endParaRPr lang="es-CL" sz="2800" dirty="0">
              <a:latin typeface="Tw Cen MT" panose="020B0602020104020603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32342" y="35101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r>
              <a:rPr lang="es-CL" dirty="0"/>
              <a:t>:  extras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6856" y="4581128"/>
            <a:ext cx="8229600" cy="20882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Una limitación importante es que no indica </a:t>
            </a:r>
            <a:r>
              <a:rPr lang="es-CL" sz="2800" i="1" dirty="0"/>
              <a:t>donde</a:t>
            </a:r>
            <a:r>
              <a:rPr lang="es-CL" sz="2800" dirty="0"/>
              <a:t> están las diferencias. Evaluar los descriptivos es fundamental en tablas de 3x2 o más.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s-CL" sz="2800" dirty="0"/>
              <a:t>A diferencias del coeficiente de r de pearson, </a:t>
            </a:r>
            <a:r>
              <a:rPr lang="es-CL" sz="2400" dirty="0">
                <a:latin typeface="Symbol" charset="2"/>
              </a:rPr>
              <a:t>c</a:t>
            </a:r>
            <a:r>
              <a:rPr lang="es-CL" sz="2400" baseline="30000" dirty="0"/>
              <a:t>2 </a:t>
            </a:r>
            <a:r>
              <a:rPr lang="es-CL" sz="2800" b="1" dirty="0">
                <a:solidFill>
                  <a:srgbClr val="FF0000"/>
                </a:solidFill>
              </a:rPr>
              <a:t>no indica la magnitud</a:t>
            </a:r>
            <a:r>
              <a:rPr lang="es-CL" sz="2800" dirty="0"/>
              <a:t> de la relacion, solo indica si est</a:t>
            </a:r>
            <a:r>
              <a:rPr lang="es-ES" sz="2800" dirty="0" err="1"/>
              <a:t>án</a:t>
            </a:r>
            <a:r>
              <a:rPr lang="es-ES" sz="2800" dirty="0"/>
              <a:t> o no asociada las variables (por ser variables nominales u ordinales). 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778293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2000" dirty="0"/>
              <a:t>Usado para analizar tablas de cruce de variables.</a:t>
            </a:r>
          </a:p>
          <a:p>
            <a:endParaRPr lang="es-ES" sz="2000" dirty="0"/>
          </a:p>
          <a:p>
            <a:r>
              <a:rPr lang="es-ES" sz="2000" dirty="0"/>
              <a:t>La Hipótesis nula es que las variables no se asocian.</a:t>
            </a:r>
          </a:p>
          <a:p>
            <a:endParaRPr lang="es-ES" sz="2000" dirty="0"/>
          </a:p>
          <a:p>
            <a:r>
              <a:rPr lang="es-ES" sz="2000" dirty="0"/>
              <a:t>Para esto, se calculan las frecuencias esperadas para la tabla.</a:t>
            </a:r>
          </a:p>
          <a:p>
            <a:endParaRPr lang="es-ES" sz="2000" dirty="0"/>
          </a:p>
          <a:p>
            <a:r>
              <a:rPr lang="es-ES" sz="2000" dirty="0"/>
              <a:t>Una frecuencia esperada corresponde “al número de casos esperados en cada celda de la tabla cuando no hay asociación entre las variables”.</a:t>
            </a:r>
          </a:p>
          <a:p>
            <a:endParaRPr lang="es-ES" sz="2000" dirty="0"/>
          </a:p>
          <a:p>
            <a:r>
              <a:rPr lang="es-ES" sz="2000" dirty="0"/>
              <a:t>Se calcula de la siguiente forma: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Resumiendo </a:t>
            </a:r>
            <a:r>
              <a:rPr lang="es-CL" dirty="0"/>
              <a:t>Prueba </a:t>
            </a:r>
            <a:r>
              <a:rPr lang="es-CL" dirty="0">
                <a:latin typeface="Symbol" charset="2"/>
              </a:rPr>
              <a:t>c</a:t>
            </a:r>
            <a:r>
              <a:rPr lang="es-CL" baseline="30000" dirty="0"/>
              <a:t>2</a:t>
            </a:r>
            <a:endParaRPr lang="es-ES" dirty="0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CD89299-CF38-994D-AAE9-D1B066BB2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6040" y="5283926"/>
          <a:ext cx="358457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82600" progId="Equation.3">
                  <p:embed/>
                </p:oleObj>
              </mc:Choice>
              <mc:Fallback>
                <p:oleObj name="Equation" r:id="rId2" imgW="1104900" imgH="4826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6CD89299-CF38-994D-AAE9-D1B066BB2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040" y="5283926"/>
                        <a:ext cx="3584575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394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000" b="1" dirty="0">
                <a:latin typeface="Tw Cen MT"/>
                <a:cs typeface="Tw Cen MT"/>
              </a:rPr>
              <a:t>Correlación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CCAB126-1F22-4DAA-9691-0343C41EBE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3013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70182"/>
            <a:ext cx="7632700" cy="4889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Asociación entre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8760"/>
            <a:ext cx="83529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300" dirty="0">
                <a:latin typeface="Tw Cen MT" charset="0"/>
                <a:ea typeface="Tw Cen MT" charset="0"/>
                <a:cs typeface="Tw Cen MT" charset="0"/>
              </a:rPr>
              <a:t>La mayoría de los análisis que vamos a ver en el curso son formas de evaluar el grado de asociación entre dos variables. Es decir, si la </a:t>
            </a:r>
            <a:r>
              <a:rPr lang="es-CL" sz="2300" dirty="0">
                <a:solidFill>
                  <a:srgbClr val="FF0000"/>
                </a:solidFill>
                <a:latin typeface="Tw Cen MT" charset="0"/>
                <a:ea typeface="Tw Cen MT" charset="0"/>
                <a:cs typeface="Tw Cen MT" charset="0"/>
              </a:rPr>
              <a:t>variabilidad en una </a:t>
            </a:r>
            <a:r>
              <a:rPr lang="es-CL" sz="2300" dirty="0">
                <a:latin typeface="Tw Cen MT" charset="0"/>
                <a:ea typeface="Tw Cen MT" charset="0"/>
                <a:cs typeface="Tw Cen MT" charset="0"/>
              </a:rPr>
              <a:t>está asociada con la </a:t>
            </a:r>
            <a:r>
              <a:rPr lang="es-CL" sz="2300" dirty="0">
                <a:solidFill>
                  <a:srgbClr val="190CC2"/>
                </a:solidFill>
                <a:latin typeface="Tw Cen MT" charset="0"/>
                <a:ea typeface="Tw Cen MT" charset="0"/>
                <a:cs typeface="Tw Cen MT" charset="0"/>
              </a:rPr>
              <a:t>variabilidad en otra. </a:t>
            </a:r>
            <a:endParaRPr lang="es-CL" sz="2300" i="1" dirty="0">
              <a:solidFill>
                <a:srgbClr val="190CC2"/>
              </a:solidFill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5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35496" y="1481328"/>
            <a:ext cx="3168352" cy="4539960"/>
          </a:xfrm>
        </p:spPr>
        <p:txBody>
          <a:bodyPr>
            <a:noAutofit/>
          </a:bodyPr>
          <a:lstStyle/>
          <a:p>
            <a:r>
              <a:rPr lang="es-ES" sz="2000" dirty="0">
                <a:latin typeface="Calibri" charset="0"/>
                <a:ea typeface="Calibri" charset="0"/>
                <a:cs typeface="Calibri" charset="0"/>
              </a:rPr>
              <a:t>Podemos ver como se “combinan” los puntajes de cada una de mis variables independientes con la variable dependiente, por medio de dispersiogramas.</a:t>
            </a:r>
          </a:p>
          <a:p>
            <a:r>
              <a:rPr lang="es-ES" sz="2000" dirty="0">
                <a:latin typeface="Calibri" charset="0"/>
                <a:ea typeface="Calibri" charset="0"/>
                <a:cs typeface="Calibri" charset="0"/>
              </a:rPr>
              <a:t>En un dispersiograma cada punto refleja la combinación de ambos puntajes para cada sujeto</a:t>
            </a:r>
          </a:p>
          <a:p>
            <a:r>
              <a:rPr lang="es-ES" sz="2000" i="1" dirty="0">
                <a:latin typeface="Calibri" charset="0"/>
                <a:ea typeface="Calibri" charset="0"/>
                <a:cs typeface="Calibri" charset="0"/>
              </a:rPr>
              <a:t>¿Sigue siendo el promedio de la variable dependiente un buen modelo?</a:t>
            </a:r>
          </a:p>
          <a:p>
            <a:endParaRPr lang="es-ES" sz="20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35" y="1412776"/>
            <a:ext cx="5789508" cy="4320000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>
            <a:off x="4067944" y="3983935"/>
            <a:ext cx="4896544" cy="0"/>
          </a:xfrm>
          <a:prstGeom prst="line">
            <a:avLst/>
          </a:prstGeom>
          <a:ln w="19050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971012" y="3573016"/>
            <a:ext cx="10182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 dirty="0">
                <a:solidFill>
                  <a:srgbClr val="2B4A76"/>
                </a:solidFill>
              </a:rPr>
              <a:t>Promedio </a:t>
            </a:r>
          </a:p>
          <a:p>
            <a:r>
              <a:rPr lang="es-ES" sz="1050" b="1" dirty="0">
                <a:solidFill>
                  <a:srgbClr val="2B4A76"/>
                </a:solidFill>
              </a:rPr>
              <a:t>de síntomas</a:t>
            </a:r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AD22C-3274-445A-ADAB-4FCFAEED1674}" type="slidenum">
              <a:rPr lang="es-CL" smtClean="0"/>
              <a:t>33</a:t>
            </a:fld>
            <a:endParaRPr lang="es-CL"/>
          </a:p>
        </p:txBody>
      </p:sp>
      <p:sp>
        <p:nvSpPr>
          <p:cNvPr id="10" name="Título 5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s-ES" sz="2000" dirty="0">
                <a:latin typeface="Tw Cen MT" charset="0"/>
                <a:ea typeface="Tw Cen MT" charset="0"/>
                <a:cs typeface="Tw Cen MT" charset="0"/>
              </a:rPr>
              <a:t>Estadísticas </a:t>
            </a:r>
            <a:r>
              <a:rPr lang="es-ES" sz="2000">
                <a:latin typeface="Tw Cen MT" charset="0"/>
                <a:ea typeface="Tw Cen MT" charset="0"/>
                <a:cs typeface="Tw Cen MT" charset="0"/>
              </a:rPr>
              <a:t>Bivariadas</a:t>
            </a:r>
            <a:br>
              <a:rPr lang="es-ES" sz="2400" dirty="0">
                <a:latin typeface="Tw Cen MT" charset="0"/>
                <a:ea typeface="Tw Cen MT" charset="0"/>
                <a:cs typeface="Tw Cen MT" charset="0"/>
              </a:rPr>
            </a:br>
            <a:r>
              <a:rPr lang="es-ES" dirty="0">
                <a:latin typeface="Tw Cen MT" charset="0"/>
                <a:ea typeface="Tw Cen MT" charset="0"/>
                <a:cs typeface="Tw Cen MT" charset="0"/>
              </a:rPr>
              <a:t>Asociación de variables</a:t>
            </a:r>
            <a:endParaRPr lang="es-ES" sz="2800" dirty="0"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7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Marcador de número de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9FC3567-6C63-744E-9F30-A4F6E16313C8}" type="slidenum">
              <a:rPr lang="es-ES" sz="1100">
                <a:latin typeface="Trebuchet MS" charset="0"/>
              </a:rPr>
              <a:pPr eaLnBrk="1" hangingPunct="1"/>
              <a:t>34</a:t>
            </a:fld>
            <a:endParaRPr lang="es-ES" sz="1100" dirty="0">
              <a:latin typeface="Trebuchet MS" charset="0"/>
            </a:endParaRPr>
          </a:p>
        </p:txBody>
      </p:sp>
      <p:pic>
        <p:nvPicPr>
          <p:cNvPr id="143362" name="Picture 3" descr="cor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5616" y="1412776"/>
            <a:ext cx="7416800" cy="5137150"/>
          </a:xfrm>
        </p:spPr>
      </p:pic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3509577" y="1109564"/>
            <a:ext cx="665165" cy="4864101"/>
            <a:chOff x="2029" y="729"/>
            <a:chExt cx="419" cy="3064"/>
          </a:xfrm>
        </p:grpSpPr>
        <p:sp>
          <p:nvSpPr>
            <p:cNvPr id="143382" name="Line 5"/>
            <p:cNvSpPr>
              <a:spLocks noChangeShapeType="1"/>
            </p:cNvSpPr>
            <p:nvPr/>
          </p:nvSpPr>
          <p:spPr bwMode="auto">
            <a:xfrm flipV="1">
              <a:off x="2200" y="1071"/>
              <a:ext cx="0" cy="2722"/>
            </a:xfrm>
            <a:prstGeom prst="line">
              <a:avLst/>
            </a:prstGeom>
            <a:ln>
              <a:solidFill>
                <a:srgbClr val="FF0000"/>
              </a:solidFill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43383" name="Text Box 6"/>
            <p:cNvSpPr txBox="1">
              <a:spLocks noChangeArrowheads="1"/>
            </p:cNvSpPr>
            <p:nvPr/>
          </p:nvSpPr>
          <p:spPr bwMode="auto">
            <a:xfrm>
              <a:off x="2029" y="729"/>
              <a:ext cx="419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2500" b="1" dirty="0">
                  <a:solidFill>
                    <a:srgbClr val="FF3300"/>
                  </a:solidFill>
                  <a:cs typeface="Arial" charset="0"/>
                </a:rPr>
                <a:t>MX</a:t>
              </a:r>
              <a:endParaRPr lang="es-ES" sz="2500" b="1" dirty="0">
                <a:solidFill>
                  <a:srgbClr val="FF3300"/>
                </a:solidFill>
                <a:cs typeface="Arial" charset="0"/>
              </a:endParaRPr>
            </a:p>
          </p:txBody>
        </p:sp>
      </p:grp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1691878" y="3741641"/>
            <a:ext cx="7280276" cy="430212"/>
            <a:chOff x="884" y="2387"/>
            <a:chExt cx="4586" cy="271"/>
          </a:xfrm>
        </p:grpSpPr>
        <p:sp>
          <p:nvSpPr>
            <p:cNvPr id="143380" name="Line 8"/>
            <p:cNvSpPr>
              <a:spLocks noChangeShapeType="1"/>
            </p:cNvSpPr>
            <p:nvPr/>
          </p:nvSpPr>
          <p:spPr bwMode="auto">
            <a:xfrm>
              <a:off x="884" y="2568"/>
              <a:ext cx="4173" cy="0"/>
            </a:xfrm>
            <a:prstGeom prst="line">
              <a:avLst/>
            </a:prstGeom>
            <a:ln>
              <a:solidFill>
                <a:srgbClr val="190CC2"/>
              </a:solidFill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43381" name="Text Box 9"/>
            <p:cNvSpPr txBox="1">
              <a:spLocks noChangeArrowheads="1"/>
            </p:cNvSpPr>
            <p:nvPr/>
          </p:nvSpPr>
          <p:spPr bwMode="auto">
            <a:xfrm>
              <a:off x="5087" y="2387"/>
              <a:ext cx="3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2200" b="1" dirty="0">
                  <a:solidFill>
                    <a:srgbClr val="190CC2"/>
                  </a:solidFill>
                  <a:cs typeface="Arial" charset="0"/>
                </a:rPr>
                <a:t>MY</a:t>
              </a:r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3703241" y="2176364"/>
            <a:ext cx="1144587" cy="1852612"/>
            <a:chOff x="2151" y="1401"/>
            <a:chExt cx="721" cy="1167"/>
          </a:xfrm>
        </p:grpSpPr>
        <p:sp>
          <p:nvSpPr>
            <p:cNvPr id="143376" name="Line 11"/>
            <p:cNvSpPr>
              <a:spLocks noChangeShapeType="1"/>
            </p:cNvSpPr>
            <p:nvPr/>
          </p:nvSpPr>
          <p:spPr bwMode="auto">
            <a:xfrm>
              <a:off x="2472" y="1570"/>
              <a:ext cx="0" cy="998"/>
            </a:xfrm>
            <a:prstGeom prst="line">
              <a:avLst/>
            </a:prstGeom>
            <a:noFill/>
            <a:ln w="9525" cap="rnd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43377" name="Text Box 12"/>
            <p:cNvSpPr txBox="1">
              <a:spLocks noChangeArrowheads="1"/>
            </p:cNvSpPr>
            <p:nvPr/>
          </p:nvSpPr>
          <p:spPr bwMode="auto">
            <a:xfrm>
              <a:off x="2442" y="1968"/>
              <a:ext cx="43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1400">
                  <a:solidFill>
                    <a:srgbClr val="FF0000"/>
                  </a:solidFill>
                  <a:cs typeface="Arial" charset="0"/>
                </a:rPr>
                <a:t>(y – </a:t>
              </a:r>
              <a:r>
                <a:rPr lang="es-CL" sz="1400">
                  <a:solidFill>
                    <a:srgbClr val="FF0000"/>
                  </a:solidFill>
                  <a:cs typeface="Arial" charset="0"/>
                  <a:sym typeface="Symbol" charset="0"/>
                </a:rPr>
                <a:t>ȳ)</a:t>
              </a:r>
            </a:p>
          </p:txBody>
        </p:sp>
        <p:sp>
          <p:nvSpPr>
            <p:cNvPr id="143378" name="Line 13"/>
            <p:cNvSpPr>
              <a:spLocks noChangeShapeType="1"/>
            </p:cNvSpPr>
            <p:nvPr/>
          </p:nvSpPr>
          <p:spPr bwMode="auto">
            <a:xfrm flipH="1">
              <a:off x="2200" y="1570"/>
              <a:ext cx="226" cy="0"/>
            </a:xfrm>
            <a:prstGeom prst="line">
              <a:avLst/>
            </a:prstGeom>
            <a:noFill/>
            <a:ln w="9525" cap="rnd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43379" name="Text Box 14"/>
            <p:cNvSpPr txBox="1">
              <a:spLocks noChangeArrowheads="1"/>
            </p:cNvSpPr>
            <p:nvPr/>
          </p:nvSpPr>
          <p:spPr bwMode="auto">
            <a:xfrm>
              <a:off x="2151" y="1401"/>
              <a:ext cx="36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1200">
                  <a:solidFill>
                    <a:srgbClr val="FF0000"/>
                  </a:solidFill>
                  <a:cs typeface="Arial" charset="0"/>
                </a:rPr>
                <a:t>(x-</a:t>
              </a:r>
              <a:r>
                <a:rPr lang="es-CL" sz="1200">
                  <a:solidFill>
                    <a:srgbClr val="FF0000"/>
                  </a:solidFill>
                  <a:cs typeface="Arial" charset="0"/>
                  <a:sym typeface="Symbol" charset="0"/>
                </a:rPr>
                <a:t>¯x)</a:t>
              </a:r>
            </a:p>
          </p:txBody>
        </p:sp>
      </p:grpSp>
      <p:graphicFrame>
        <p:nvGraphicFramePr>
          <p:cNvPr id="29" name="Objeto 28"/>
          <p:cNvGraphicFramePr>
            <a:graphicFrameLocks noChangeAspect="1"/>
          </p:cNvGraphicFramePr>
          <p:nvPr/>
        </p:nvGraphicFramePr>
        <p:xfrm>
          <a:off x="1753791" y="2301776"/>
          <a:ext cx="19542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143000" imgH="584200" progId="Equation.3">
                  <p:embed/>
                </p:oleObj>
              </mc:Choice>
              <mc:Fallback>
                <p:oleObj name="Ecuación" r:id="rId3" imgW="1143000" imgH="584200" progId="Equation.3">
                  <p:embed/>
                  <p:pic>
                    <p:nvPicPr>
                      <p:cNvPr id="29" name="Objeto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791" y="2301776"/>
                        <a:ext cx="1954212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/>
          <p:cNvGraphicFramePr>
            <a:graphicFrameLocks noChangeAspect="1"/>
          </p:cNvGraphicFramePr>
          <p:nvPr/>
        </p:nvGraphicFramePr>
        <p:xfrm>
          <a:off x="4860528" y="2373214"/>
          <a:ext cx="19542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143000" imgH="584200" progId="Equation.3">
                  <p:embed/>
                </p:oleObj>
              </mc:Choice>
              <mc:Fallback>
                <p:oleObj name="Ecuación" r:id="rId5" imgW="1143000" imgH="584200" progId="Equation.3">
                  <p:embed/>
                  <p:pic>
                    <p:nvPicPr>
                      <p:cNvPr id="30" name="Objeto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528" y="2373214"/>
                        <a:ext cx="19542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to 30"/>
          <p:cNvGraphicFramePr>
            <a:graphicFrameLocks noChangeAspect="1"/>
          </p:cNvGraphicFramePr>
          <p:nvPr/>
        </p:nvGraphicFramePr>
        <p:xfrm>
          <a:off x="1764903" y="4605239"/>
          <a:ext cx="19542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143000" imgH="584200" progId="Equation.3">
                  <p:embed/>
                </p:oleObj>
              </mc:Choice>
              <mc:Fallback>
                <p:oleObj name="Ecuación" r:id="rId7" imgW="1143000" imgH="584200" progId="Equation.3">
                  <p:embed/>
                  <p:pic>
                    <p:nvPicPr>
                      <p:cNvPr id="31" name="Objeto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903" y="4605239"/>
                        <a:ext cx="19542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/>
          <p:cNvGraphicFramePr>
            <a:graphicFrameLocks noChangeAspect="1"/>
          </p:cNvGraphicFramePr>
          <p:nvPr/>
        </p:nvGraphicFramePr>
        <p:xfrm>
          <a:off x="4860528" y="4605239"/>
          <a:ext cx="19542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Ûn" r:id="rId9" imgW="1143000" imgH="584200" progId="Equation.3">
                  <p:embed/>
                </p:oleObj>
              </mc:Choice>
              <mc:Fallback>
                <p:oleObj name="EcuaciÛn" r:id="rId9" imgW="1143000" imgH="584200" progId="Equation.3">
                  <p:embed/>
                  <p:pic>
                    <p:nvPicPr>
                      <p:cNvPr id="32" name="Objeto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528" y="4605239"/>
                        <a:ext cx="19542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2339578" y="2228751"/>
            <a:ext cx="3700463" cy="3362326"/>
            <a:chOff x="1292" y="1434"/>
            <a:chExt cx="2331" cy="2118"/>
          </a:xfrm>
        </p:grpSpPr>
        <p:sp>
          <p:nvSpPr>
            <p:cNvPr id="143372" name="Text Box 21"/>
            <p:cNvSpPr txBox="1">
              <a:spLocks noChangeArrowheads="1"/>
            </p:cNvSpPr>
            <p:nvPr/>
          </p:nvSpPr>
          <p:spPr bwMode="auto">
            <a:xfrm>
              <a:off x="1350" y="1434"/>
              <a:ext cx="2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5400">
                  <a:solidFill>
                    <a:srgbClr val="FF3300"/>
                  </a:solidFill>
                  <a:cs typeface="Arial" charset="0"/>
                </a:rPr>
                <a:t>-</a:t>
              </a:r>
              <a:endParaRPr lang="es-ES" sz="5400">
                <a:solidFill>
                  <a:srgbClr val="FF3300"/>
                </a:solidFill>
                <a:cs typeface="Arial" charset="0"/>
              </a:endParaRPr>
            </a:p>
          </p:txBody>
        </p:sp>
        <p:sp>
          <p:nvSpPr>
            <p:cNvPr id="143373" name="Text Box 22"/>
            <p:cNvSpPr txBox="1">
              <a:spLocks noChangeArrowheads="1"/>
            </p:cNvSpPr>
            <p:nvPr/>
          </p:nvSpPr>
          <p:spPr bwMode="auto">
            <a:xfrm>
              <a:off x="3334" y="2976"/>
              <a:ext cx="2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5400">
                  <a:solidFill>
                    <a:srgbClr val="FF3300"/>
                  </a:solidFill>
                  <a:cs typeface="Arial" charset="0"/>
                </a:rPr>
                <a:t>-</a:t>
              </a:r>
              <a:endParaRPr lang="es-ES" sz="5400">
                <a:solidFill>
                  <a:srgbClr val="FF3300"/>
                </a:solidFill>
                <a:cs typeface="Arial" charset="0"/>
              </a:endParaRPr>
            </a:p>
          </p:txBody>
        </p:sp>
        <p:sp>
          <p:nvSpPr>
            <p:cNvPr id="143374" name="Text Box 23"/>
            <p:cNvSpPr txBox="1">
              <a:spLocks noChangeArrowheads="1"/>
            </p:cNvSpPr>
            <p:nvPr/>
          </p:nvSpPr>
          <p:spPr bwMode="auto">
            <a:xfrm>
              <a:off x="3255" y="1539"/>
              <a:ext cx="36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5400">
                  <a:solidFill>
                    <a:srgbClr val="FF3300"/>
                  </a:solidFill>
                  <a:cs typeface="Arial" charset="0"/>
                </a:rPr>
                <a:t>+</a:t>
              </a:r>
              <a:endParaRPr lang="es-ES" sz="5400">
                <a:solidFill>
                  <a:srgbClr val="FF3300"/>
                </a:solidFill>
                <a:cs typeface="Arial" charset="0"/>
              </a:endParaRPr>
            </a:p>
          </p:txBody>
        </p:sp>
        <p:sp>
          <p:nvSpPr>
            <p:cNvPr id="143375" name="Text Box 24"/>
            <p:cNvSpPr txBox="1">
              <a:spLocks noChangeArrowheads="1"/>
            </p:cNvSpPr>
            <p:nvPr/>
          </p:nvSpPr>
          <p:spPr bwMode="auto">
            <a:xfrm>
              <a:off x="1292" y="2886"/>
              <a:ext cx="36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s-CL" sz="5400">
                  <a:solidFill>
                    <a:srgbClr val="FF3300"/>
                  </a:solidFill>
                  <a:cs typeface="Arial" charset="0"/>
                </a:rPr>
                <a:t>+</a:t>
              </a:r>
              <a:endParaRPr lang="es-ES" sz="5400">
                <a:solidFill>
                  <a:srgbClr val="FF3300"/>
                </a:solidFill>
                <a:cs typeface="Arial" charset="0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124224" y="6189588"/>
            <a:ext cx="3312368" cy="2160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5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116112" y="3237260"/>
            <a:ext cx="360040" cy="1440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500" b="1" dirty="0">
                <a:solidFill>
                  <a:srgbClr val="190CC2"/>
                </a:solidFill>
              </a:rPr>
              <a:t>Y</a:t>
            </a:r>
          </a:p>
        </p:txBody>
      </p:sp>
      <p:sp>
        <p:nvSpPr>
          <p:cNvPr id="28" name="Título 5"/>
          <p:cNvSpPr>
            <a:spLocks noGrp="1"/>
          </p:cNvSpPr>
          <p:nvPr>
            <p:ph type="title"/>
          </p:nvPr>
        </p:nvSpPr>
        <p:spPr>
          <a:xfrm>
            <a:off x="302816" y="82849"/>
            <a:ext cx="8229600" cy="719238"/>
          </a:xfrm>
        </p:spPr>
        <p:txBody>
          <a:bodyPr>
            <a:normAutofit fontScale="90000"/>
          </a:bodyPr>
          <a:lstStyle/>
          <a:p>
            <a:r>
              <a:rPr lang="es-ES" sz="2000" dirty="0">
                <a:latin typeface="Tw Cen MT" charset="0"/>
                <a:ea typeface="Tw Cen MT" charset="0"/>
                <a:cs typeface="Tw Cen MT" charset="0"/>
              </a:rPr>
              <a:t>Estadísticas Bivariadas</a:t>
            </a:r>
            <a:br>
              <a:rPr lang="es-ES" sz="2400" dirty="0">
                <a:latin typeface="Tw Cen MT" charset="0"/>
                <a:ea typeface="Tw Cen MT" charset="0"/>
                <a:cs typeface="Tw Cen MT" charset="0"/>
              </a:rPr>
            </a:br>
            <a:r>
              <a:rPr lang="es-ES" dirty="0">
                <a:latin typeface="Tw Cen MT" charset="0"/>
                <a:ea typeface="Tw Cen MT" charset="0"/>
                <a:cs typeface="Tw Cen MT" charset="0"/>
              </a:rPr>
              <a:t>Asociación de variables</a:t>
            </a:r>
            <a:endParaRPr lang="es-ES" sz="2800" dirty="0"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0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s-ES" sz="2400" b="1" dirty="0">
                <a:latin typeface="Tw Cen MT" charset="0"/>
                <a:ea typeface="Tw Cen MT" charset="0"/>
                <a:cs typeface="Tw Cen MT" charset="0"/>
              </a:rPr>
              <a:t>Covarianza:</a:t>
            </a:r>
            <a:r>
              <a:rPr lang="es-ES" sz="2400" dirty="0">
                <a:latin typeface="Tw Cen MT" charset="0"/>
                <a:ea typeface="Tw Cen MT" charset="0"/>
                <a:cs typeface="Tw Cen MT" charset="0"/>
              </a:rPr>
              <a:t> mide la variación conjunta de dos variables, pero es afectada por los  cambios de unidades de medida</a:t>
            </a:r>
          </a:p>
          <a:p>
            <a:pPr>
              <a:defRPr/>
            </a:pPr>
            <a:endParaRPr lang="es-ES" sz="2400" dirty="0">
              <a:latin typeface="Tw Cen MT" charset="0"/>
              <a:ea typeface="Tw Cen MT" charset="0"/>
              <a:cs typeface="Tw Cen MT" charset="0"/>
            </a:endParaRPr>
          </a:p>
          <a:p>
            <a:pPr>
              <a:defRPr/>
            </a:pPr>
            <a:endParaRPr lang="es-ES" sz="2400" dirty="0">
              <a:latin typeface="Tw Cen MT" charset="0"/>
              <a:ea typeface="Tw Cen MT" charset="0"/>
              <a:cs typeface="Tw Cen MT" charset="0"/>
            </a:endParaRPr>
          </a:p>
          <a:p>
            <a:pPr>
              <a:defRPr/>
            </a:pPr>
            <a:endParaRPr lang="es-ES" sz="2400" dirty="0">
              <a:latin typeface="Tw Cen MT" charset="0"/>
              <a:ea typeface="Tw Cen MT" charset="0"/>
              <a:cs typeface="Tw Cen MT" charset="0"/>
            </a:endParaRPr>
          </a:p>
          <a:p>
            <a:pPr>
              <a:defRPr/>
            </a:pPr>
            <a:endParaRPr lang="es-ES" sz="2400" dirty="0">
              <a:latin typeface="Tw Cen MT" charset="0"/>
              <a:ea typeface="Tw Cen MT" charset="0"/>
              <a:cs typeface="Tw Cen MT" charset="0"/>
            </a:endParaRPr>
          </a:p>
          <a:p>
            <a:pPr>
              <a:defRPr/>
            </a:pPr>
            <a:endParaRPr lang="es-ES" sz="2400" b="1" dirty="0">
              <a:latin typeface="Tw Cen MT" charset="0"/>
              <a:ea typeface="Tw Cen MT" charset="0"/>
              <a:cs typeface="Tw Cen MT" charset="0"/>
            </a:endParaRPr>
          </a:p>
          <a:p>
            <a:pPr>
              <a:defRPr/>
            </a:pPr>
            <a:r>
              <a:rPr lang="es-ES" sz="2400" b="1" dirty="0">
                <a:latin typeface="Tw Cen MT" charset="0"/>
                <a:ea typeface="Tw Cen MT" charset="0"/>
                <a:cs typeface="Tw Cen MT" charset="0"/>
              </a:rPr>
              <a:t>La correlación:</a:t>
            </a:r>
            <a:r>
              <a:rPr lang="es-ES" sz="2400" dirty="0">
                <a:latin typeface="Tw Cen MT" charset="0"/>
                <a:ea typeface="Tw Cen MT" charset="0"/>
                <a:cs typeface="Tw Cen MT" charset="0"/>
              </a:rPr>
              <a:t> estandariza la covarianza</a:t>
            </a:r>
          </a:p>
          <a:p>
            <a:pPr marL="0" indent="0">
              <a:buFontTx/>
              <a:buNone/>
              <a:defRPr/>
            </a:pPr>
            <a:endParaRPr lang="es-ES" sz="2400" dirty="0">
              <a:latin typeface="Tw Cen MT" charset="0"/>
              <a:ea typeface="Tw Cen MT" charset="0"/>
              <a:cs typeface="Tw Cen MT" charset="0"/>
            </a:endParaRPr>
          </a:p>
        </p:txBody>
      </p:sp>
      <p:sp>
        <p:nvSpPr>
          <p:cNvPr id="144388" name="Marcador de número de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E3DED14-215A-8745-9D65-12652235F169}" type="slidenum">
              <a:rPr lang="es-ES" sz="1400">
                <a:latin typeface="Tw Cen MT" charset="0"/>
                <a:ea typeface="Tw Cen MT" charset="0"/>
                <a:cs typeface="Tw Cen MT" charset="0"/>
              </a:rPr>
              <a:pPr eaLnBrk="1" hangingPunct="1"/>
              <a:t>35</a:t>
            </a:fld>
            <a:endParaRPr lang="es-ES" sz="1400">
              <a:latin typeface="Tw Cen MT" charset="0"/>
              <a:ea typeface="Tw Cen MT" charset="0"/>
              <a:cs typeface="Tw Cen MT" charset="0"/>
            </a:endParaRPr>
          </a:p>
        </p:txBody>
      </p:sp>
      <p:graphicFrame>
        <p:nvGraphicFramePr>
          <p:cNvPr id="144389" name="Object 2"/>
          <p:cNvGraphicFramePr>
            <a:graphicFrameLocks noChangeAspect="1"/>
          </p:cNvGraphicFramePr>
          <p:nvPr/>
        </p:nvGraphicFramePr>
        <p:xfrm>
          <a:off x="758825" y="2708275"/>
          <a:ext cx="6931025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565400" imgH="635000" progId="Equation.3">
                  <p:embed/>
                </p:oleObj>
              </mc:Choice>
              <mc:Fallback>
                <p:oleObj name="Ecuación" r:id="rId2" imgW="2565400" imgH="635000" progId="Equation.3">
                  <p:embed/>
                  <p:pic>
                    <p:nvPicPr>
                      <p:cNvPr id="14438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708275"/>
                        <a:ext cx="6931025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90" name="Object 3"/>
          <p:cNvGraphicFramePr>
            <a:graphicFrameLocks noChangeAspect="1"/>
          </p:cNvGraphicFramePr>
          <p:nvPr/>
        </p:nvGraphicFramePr>
        <p:xfrm>
          <a:off x="5148064" y="4973215"/>
          <a:ext cx="2111375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Ûn" r:id="rId4" imgW="660113" imgH="469696" progId="Equation.3">
                  <p:embed/>
                </p:oleObj>
              </mc:Choice>
              <mc:Fallback>
                <p:oleObj name="EcuaciÛn" r:id="rId4" imgW="660113" imgH="469696" progId="Equation.3">
                  <p:embed/>
                  <p:pic>
                    <p:nvPicPr>
                      <p:cNvPr id="14439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973215"/>
                        <a:ext cx="2111375" cy="140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ítulo 5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s-ES" sz="2000" dirty="0">
                <a:latin typeface="Tw Cen MT" charset="0"/>
                <a:ea typeface="Tw Cen MT" charset="0"/>
                <a:cs typeface="Tw Cen MT" charset="0"/>
              </a:rPr>
              <a:t>Estadísticas Bivariadas</a:t>
            </a:r>
            <a:br>
              <a:rPr lang="es-ES" sz="2400" dirty="0">
                <a:latin typeface="Tw Cen MT" charset="0"/>
                <a:ea typeface="Tw Cen MT" charset="0"/>
                <a:cs typeface="Tw Cen MT" charset="0"/>
              </a:rPr>
            </a:br>
            <a:r>
              <a:rPr lang="es-ES" dirty="0">
                <a:latin typeface="Tw Cen MT" charset="0"/>
                <a:ea typeface="Tw Cen MT" charset="0"/>
                <a:cs typeface="Tw Cen MT" charset="0"/>
              </a:rPr>
              <a:t>Asociación de variables</a:t>
            </a:r>
            <a:endParaRPr lang="es-ES" sz="2800" dirty="0">
              <a:latin typeface="Tw Cen MT" charset="0"/>
              <a:ea typeface="Tw Cen MT" charset="0"/>
              <a:cs typeface="Tw Cen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75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835" y="0"/>
            <a:ext cx="8229600" cy="778098"/>
          </a:xfrm>
        </p:spPr>
        <p:txBody>
          <a:bodyPr/>
          <a:lstStyle/>
          <a:p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Tamaño de la relación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835" y="908720"/>
            <a:ext cx="8229600" cy="5760640"/>
          </a:xfrm>
        </p:spPr>
        <p:txBody>
          <a:bodyPr>
            <a:normAutofit fontScale="92500" lnSpcReduction="10000"/>
          </a:bodyPr>
          <a:lstStyle/>
          <a:p>
            <a:r>
              <a:rPr lang="es-ES" sz="2800" dirty="0">
                <a:latin typeface="Tw Cen MT" charset="0"/>
                <a:ea typeface="Tw Cen MT" charset="0"/>
                <a:cs typeface="Tw Cen MT" charset="0"/>
              </a:rPr>
              <a:t>Dado que es una medida estandarizada, el signo indica la dirección de la relación (positiva o negativa)</a:t>
            </a:r>
          </a:p>
          <a:p>
            <a:pPr marL="342900" lvl="2" indent="-342900"/>
            <a:r>
              <a:rPr lang="es-ES" sz="2800" dirty="0">
                <a:latin typeface="Tw Cen MT" charset="0"/>
                <a:ea typeface="Tw Cen MT" charset="0"/>
                <a:cs typeface="Tw Cen MT" charset="0"/>
              </a:rPr>
              <a:t>El valor indica el monto o magnitud de la relación (desde ausencia de relación, débil o fuerte)</a:t>
            </a:r>
          </a:p>
          <a:p>
            <a:r>
              <a:rPr lang="es-CL" sz="2800" dirty="0">
                <a:latin typeface="Tw Cen MT" charset="0"/>
                <a:ea typeface="Tw Cen MT" charset="0"/>
                <a:cs typeface="Tw Cen MT" charset="0"/>
                <a:sym typeface="Wingdings" pitchFamily="2" charset="2"/>
              </a:rPr>
              <a:t>Los valores posibles para una correlación van entre -1 (correlación perfecta negativa) y +1 (correlación perfecta positiva). Si obtienen un número fuera de este rango, ¡algo salió mal!</a:t>
            </a:r>
          </a:p>
          <a:p>
            <a:r>
              <a:rPr lang="es-CL" sz="2800" dirty="0">
                <a:latin typeface="Tw Cen MT" charset="0"/>
                <a:ea typeface="Tw Cen MT" charset="0"/>
                <a:cs typeface="Tw Cen MT" charset="0"/>
              </a:rPr>
              <a:t>En general, en ciencias sociales:</a:t>
            </a:r>
          </a:p>
          <a:p>
            <a:endParaRPr lang="es-CL" sz="2800" dirty="0">
              <a:latin typeface="Tw Cen MT" charset="0"/>
              <a:ea typeface="Tw Cen MT" charset="0"/>
              <a:cs typeface="Tw Cen MT" charset="0"/>
            </a:endParaRPr>
          </a:p>
          <a:p>
            <a:pPr lvl="1"/>
            <a:r>
              <a:rPr lang="es-CL" dirty="0">
                <a:latin typeface="Tw Cen MT" charset="0"/>
                <a:ea typeface="Tw Cen MT" charset="0"/>
                <a:cs typeface="Tw Cen MT" charset="0"/>
                <a:sym typeface="Wingdings" pitchFamily="2" charset="2"/>
              </a:rPr>
              <a:t>Ausencia de relación lineal    = 0</a:t>
            </a:r>
          </a:p>
          <a:p>
            <a:pPr lvl="1"/>
            <a:r>
              <a:rPr lang="es-CL" dirty="0">
                <a:latin typeface="Tw Cen MT" charset="0"/>
                <a:ea typeface="Tw Cen MT" charset="0"/>
                <a:cs typeface="Tw Cen MT" charset="0"/>
                <a:sym typeface="Wingdings" pitchFamily="2" charset="2"/>
              </a:rPr>
              <a:t>Relación pequeña 		≥ </a:t>
            </a:r>
            <a:r>
              <a:rPr lang="es-CL" dirty="0">
                <a:latin typeface="Tw Cen MT" charset="0"/>
                <a:ea typeface="Tw Cen MT" charset="0"/>
                <a:cs typeface="Tw Cen MT" charset="0"/>
              </a:rPr>
              <a:t>0.1 </a:t>
            </a:r>
            <a:endParaRPr lang="es-CL" dirty="0">
              <a:latin typeface="Tw Cen MT" charset="0"/>
              <a:ea typeface="Tw Cen MT" charset="0"/>
              <a:cs typeface="Tw Cen MT" charset="0"/>
              <a:sym typeface="Wingdings" pitchFamily="2" charset="2"/>
            </a:endParaRPr>
          </a:p>
          <a:p>
            <a:pPr lvl="1"/>
            <a:r>
              <a:rPr lang="es-CL" dirty="0">
                <a:latin typeface="Tw Cen MT" charset="0"/>
                <a:ea typeface="Tw Cen MT" charset="0"/>
                <a:cs typeface="Tw Cen MT" charset="0"/>
                <a:sym typeface="Wingdings" pitchFamily="2" charset="2"/>
              </a:rPr>
              <a:t>Relación mediana 		≥ 0.3 </a:t>
            </a:r>
          </a:p>
          <a:p>
            <a:pPr lvl="1"/>
            <a:r>
              <a:rPr lang="es-CL" dirty="0">
                <a:latin typeface="Tw Cen MT" charset="0"/>
                <a:ea typeface="Tw Cen MT" charset="0"/>
                <a:cs typeface="Tw Cen MT" charset="0"/>
                <a:sym typeface="Wingdings" pitchFamily="2" charset="2"/>
              </a:rPr>
              <a:t>Relación fuerte 		≥ 0.5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557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i="1" dirty="0"/>
              <a:t>Correlaciones positivas y negativas</a:t>
            </a:r>
            <a:endParaRPr lang="es-CL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7" t="11346" r="50072" b="79615"/>
          <a:stretch/>
        </p:blipFill>
        <p:spPr bwMode="auto">
          <a:xfrm>
            <a:off x="381724" y="4077072"/>
            <a:ext cx="8475674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6" t="11346" r="66529" b="79615"/>
          <a:stretch/>
        </p:blipFill>
        <p:spPr bwMode="auto">
          <a:xfrm>
            <a:off x="237708" y="1812133"/>
            <a:ext cx="8176181" cy="1964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280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¿Cómo sabemos si la correlación es significativa?</a:t>
            </a:r>
          </a:p>
        </p:txBody>
      </p:sp>
      <p:pic>
        <p:nvPicPr>
          <p:cNvPr id="5" name="Picture 2" descr="http://upload.wikimedia.org/wikipedia/commons/thumb/4/41/Student_t_pdf.svg/1000px-Student_t_pdf.svg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89"/>
          <a:stretch/>
        </p:blipFill>
        <p:spPr bwMode="auto">
          <a:xfrm>
            <a:off x="467544" y="2420887"/>
            <a:ext cx="4293350" cy="304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5022107" y="3798168"/>
            <a:ext cx="38068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Una correlación entre dos variables tiene </a:t>
            </a:r>
            <a:r>
              <a:rPr lang="es-CL" i="1" dirty="0"/>
              <a:t>n</a:t>
            </a:r>
            <a:r>
              <a:rPr lang="es-CL" dirty="0"/>
              <a:t> – 2 grados de libertad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031344" y="5022304"/>
            <a:ext cx="3806814" cy="135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i="1" dirty="0"/>
              <a:t>Al igual que en una prueba t, pueden ocupar un contraste unilateral si tienen una hipótesis clara sobre la dirección de la relación</a:t>
            </a:r>
          </a:p>
        </p:txBody>
      </p:sp>
      <p:sp>
        <p:nvSpPr>
          <p:cNvPr id="3" name="2 Rectángulo"/>
          <p:cNvSpPr/>
          <p:nvPr/>
        </p:nvSpPr>
        <p:spPr>
          <a:xfrm>
            <a:off x="823182" y="1772505"/>
            <a:ext cx="3776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i="1" dirty="0"/>
              <a:t>t </a:t>
            </a:r>
            <a:r>
              <a:rPr lang="es-CL" dirty="0"/>
              <a:t>es el estimador dividido por el error estándar del estimador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088" y="1844824"/>
            <a:ext cx="3059832" cy="149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31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29600" cy="59766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CL" dirty="0">
                <a:solidFill>
                  <a:schemeClr val="tx2"/>
                </a:solidFill>
                <a:latin typeface="Courier"/>
                <a:cs typeface="Courier"/>
              </a:rPr>
              <a:t>with(estudio2013,</a:t>
            </a:r>
          </a:p>
          <a:p>
            <a:pPr marL="0" indent="0">
              <a:buNone/>
            </a:pPr>
            <a:r>
              <a:rPr lang="es-CL" dirty="0">
                <a:solidFill>
                  <a:schemeClr val="tx2"/>
                </a:solidFill>
                <a:latin typeface="Courier"/>
                <a:cs typeface="Courier"/>
              </a:rPr>
              <a:t>     cor.test(comp, anseval))</a:t>
            </a:r>
          </a:p>
          <a:p>
            <a:pPr marL="0" indent="0">
              <a:buNone/>
            </a:pPr>
            <a:endParaRPr lang="es-CL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	Pearson's product-moment correlation</a:t>
            </a:r>
          </a:p>
          <a:p>
            <a:pPr marL="0" indent="0">
              <a:buNone/>
            </a:pPr>
            <a:endParaRPr lang="es-CL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data:  comp and anseval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t = 2.9139, df = 133, p-value = </a:t>
            </a:r>
            <a:r>
              <a:rPr lang="es-CL" dirty="0">
                <a:solidFill>
                  <a:schemeClr val="accent2"/>
                </a:solidFill>
                <a:latin typeface="Courier"/>
                <a:cs typeface="Courier"/>
              </a:rPr>
              <a:t>0.004189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alternative hypothesis: true correlation is not equal to 0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95 percent confidence interval: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 0.07929096 0.39747257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sample estimates:</a:t>
            </a:r>
          </a:p>
          <a:p>
            <a:pPr marL="0" indent="0">
              <a:buNone/>
            </a:pPr>
            <a:r>
              <a:rPr lang="es-CL" dirty="0">
                <a:latin typeface="Courier"/>
                <a:cs typeface="Courier"/>
              </a:rPr>
              <a:t>      cor </a:t>
            </a:r>
          </a:p>
          <a:p>
            <a:pPr marL="0" indent="0">
              <a:buNone/>
            </a:pPr>
            <a:r>
              <a:rPr lang="es-CL" dirty="0">
                <a:solidFill>
                  <a:srgbClr val="C0504D"/>
                </a:solidFill>
                <a:latin typeface="Courier"/>
                <a:cs typeface="Courier"/>
              </a:rPr>
              <a:t>0.2449663 </a:t>
            </a: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imes"/>
                <a:cs typeface="Times"/>
              </a:rPr>
              <a:t>Las personas con mayores niveles de competitividad académica tienden a reportar mayores niveles de ansiedad ante evaluaciones (</a:t>
            </a:r>
            <a:r>
              <a:rPr lang="es-CL" sz="3800" i="1" dirty="0">
                <a:solidFill>
                  <a:schemeClr val="accent3">
                    <a:lumMod val="50000"/>
                  </a:schemeClr>
                </a:solidFill>
                <a:latin typeface="Times"/>
                <a:cs typeface="Times"/>
              </a:rPr>
              <a:t>r</a:t>
            </a: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imes"/>
                <a:cs typeface="Times"/>
              </a:rPr>
              <a:t> = .24, </a:t>
            </a:r>
            <a:r>
              <a:rPr lang="es-CL" sz="3800" i="1" dirty="0">
                <a:solidFill>
                  <a:schemeClr val="accent3">
                    <a:lumMod val="50000"/>
                  </a:schemeClr>
                </a:solidFill>
                <a:latin typeface="Times"/>
                <a:cs typeface="Times"/>
              </a:rPr>
              <a:t>p</a:t>
            </a: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imes"/>
                <a:cs typeface="Times"/>
              </a:rPr>
              <a:t> &lt; .01).</a:t>
            </a: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694878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i="1" dirty="0"/>
              <a:t>r</a:t>
            </a:r>
            <a:r>
              <a:rPr lang="es-CL" baseline="30000" dirty="0"/>
              <a:t>2</a:t>
            </a:r>
            <a:r>
              <a:rPr lang="es-CL" dirty="0"/>
              <a:t> Varianza Explicada (o compartida)</a:t>
            </a:r>
            <a:endParaRPr lang="es-CL" i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s-ES_tradnl" dirty="0"/>
              <a:t>Si las variables están relacionadas, quiere decir que tienen varianza en común</a:t>
            </a:r>
          </a:p>
          <a:p>
            <a:pPr eaLnBrk="1" hangingPunct="1"/>
            <a:endParaRPr lang="es-ES_tradnl" dirty="0"/>
          </a:p>
          <a:p>
            <a:pPr eaLnBrk="1" hangingPunct="1"/>
            <a:endParaRPr lang="es-ES_tradnl" dirty="0"/>
          </a:p>
          <a:p>
            <a:pPr eaLnBrk="1" hangingPunct="1"/>
            <a:endParaRPr lang="es-ES_tradnl" sz="1300" dirty="0"/>
          </a:p>
          <a:p>
            <a:pPr eaLnBrk="1" hangingPunct="1">
              <a:buFont typeface="Wingdings" charset="2"/>
              <a:buNone/>
            </a:pPr>
            <a:r>
              <a:rPr lang="es-ES_tradnl" sz="2000" dirty="0"/>
              <a:t>		</a:t>
            </a:r>
          </a:p>
          <a:p>
            <a:pPr eaLnBrk="1" hangingPunct="1">
              <a:buFont typeface="Wingdings" charset="2"/>
              <a:buNone/>
            </a:pPr>
            <a:r>
              <a:rPr lang="es-ES_tradnl" sz="2000" dirty="0"/>
              <a:t>		</a:t>
            </a:r>
            <a:r>
              <a:rPr lang="es-ES_tradnl" sz="2000" i="1" dirty="0">
                <a:latin typeface="+mj-lt"/>
              </a:rPr>
              <a:t>r </a:t>
            </a:r>
            <a:r>
              <a:rPr lang="es-ES_tradnl" sz="2000" baseline="-25000" dirty="0" err="1">
                <a:latin typeface="+mj-lt"/>
              </a:rPr>
              <a:t>xy</a:t>
            </a:r>
            <a:r>
              <a:rPr lang="es-ES_tradnl" sz="2000" baseline="-25000" dirty="0">
                <a:latin typeface="+mj-lt"/>
              </a:rPr>
              <a:t> </a:t>
            </a:r>
            <a:r>
              <a:rPr lang="es-ES_tradnl" sz="2000" dirty="0">
                <a:latin typeface="+mj-lt"/>
              </a:rPr>
              <a:t>= 0		           r </a:t>
            </a:r>
            <a:r>
              <a:rPr lang="es-ES_tradnl" sz="2000" baseline="-25000" dirty="0" err="1">
                <a:latin typeface="+mj-lt"/>
              </a:rPr>
              <a:t>xy</a:t>
            </a:r>
            <a:r>
              <a:rPr lang="es-ES_tradnl" sz="2000" baseline="-25000" dirty="0">
                <a:latin typeface="+mj-lt"/>
              </a:rPr>
              <a:t>  </a:t>
            </a:r>
            <a:r>
              <a:rPr lang="es-ES_tradnl" sz="2000" dirty="0">
                <a:latin typeface="+mj-lt"/>
              </a:rPr>
              <a:t>= 0.71		       r </a:t>
            </a:r>
            <a:r>
              <a:rPr lang="es-ES_tradnl" sz="2000" baseline="-25000" dirty="0" err="1">
                <a:latin typeface="+mj-lt"/>
              </a:rPr>
              <a:t>xy</a:t>
            </a:r>
            <a:r>
              <a:rPr lang="es-ES_tradnl" sz="2000" baseline="-25000" dirty="0">
                <a:latin typeface="+mj-lt"/>
              </a:rPr>
              <a:t>  </a:t>
            </a:r>
            <a:r>
              <a:rPr lang="es-ES_tradnl" sz="2000" dirty="0">
                <a:latin typeface="+mj-lt"/>
              </a:rPr>
              <a:t>= 0.98</a:t>
            </a:r>
          </a:p>
          <a:p>
            <a:pPr eaLnBrk="1" hangingPunct="1">
              <a:buFont typeface="Wingdings" charset="2"/>
              <a:buNone/>
            </a:pPr>
            <a:endParaRPr lang="es-ES_tradnl" sz="2000" dirty="0">
              <a:latin typeface="+mj-lt"/>
            </a:endParaRP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9921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20589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8877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42687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64785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6569036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311275" y="38814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s-CL"/>
          </a:p>
        </p:txBody>
      </p:sp>
      <p:sp>
        <p:nvSpPr>
          <p:cNvPr id="3" name="Rectangle 2"/>
          <p:cNvSpPr/>
          <p:nvPr/>
        </p:nvSpPr>
        <p:spPr>
          <a:xfrm>
            <a:off x="827584" y="4822701"/>
            <a:ext cx="756084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FF0000"/>
                </a:solidFill>
                <a:cs typeface="Times"/>
              </a:rPr>
              <a:t>Competitividad académica y ansiedad ante evaluaciones comparten un 5.8% de varianza. </a:t>
            </a:r>
          </a:p>
          <a:p>
            <a:endParaRPr lang="es-CL" dirty="0">
              <a:solidFill>
                <a:schemeClr val="accent3">
                  <a:lumMod val="50000"/>
                </a:schemeClr>
              </a:solidFill>
              <a:cs typeface="Times"/>
            </a:endParaRPr>
          </a:p>
          <a:p>
            <a:r>
              <a:rPr lang="es-CL" sz="2400" dirty="0">
                <a:cs typeface="Times"/>
              </a:rPr>
              <a:t>Simplemente hay que elevar </a:t>
            </a:r>
            <a:r>
              <a:rPr lang="es-CL" sz="2400" i="1" dirty="0">
                <a:cs typeface="Times"/>
              </a:rPr>
              <a:t>r</a:t>
            </a:r>
            <a:r>
              <a:rPr lang="es-CL" sz="2400" dirty="0">
                <a:cs typeface="Times"/>
              </a:rPr>
              <a:t> al cuadrado y multiplicar por 100 (</a:t>
            </a:r>
            <a:r>
              <a:rPr lang="es-CL" sz="2400" i="1" dirty="0">
                <a:cs typeface="Times"/>
              </a:rPr>
              <a:t>r</a:t>
            </a:r>
            <a:r>
              <a:rPr lang="es-CL" sz="2400" dirty="0">
                <a:cs typeface="Times"/>
              </a:rPr>
              <a:t> = .24, </a:t>
            </a:r>
            <a:r>
              <a:rPr lang="es-CL" sz="2400" i="1" dirty="0">
                <a:cs typeface="Times"/>
              </a:rPr>
              <a:t>r</a:t>
            </a:r>
            <a:r>
              <a:rPr lang="es-CL" sz="2400" baseline="30000" dirty="0">
                <a:cs typeface="Times"/>
              </a:rPr>
              <a:t>2</a:t>
            </a:r>
            <a:r>
              <a:rPr lang="es-CL" sz="2400" i="1" dirty="0">
                <a:cs typeface="Times"/>
              </a:rPr>
              <a:t> </a:t>
            </a:r>
            <a:r>
              <a:rPr lang="es-CL" sz="2400" dirty="0">
                <a:cs typeface="Times"/>
              </a:rPr>
              <a:t>= .058 o expersado en porcentaje es 5.8%).</a:t>
            </a:r>
          </a:p>
        </p:txBody>
      </p:sp>
    </p:spTree>
    <p:extLst>
      <p:ext uri="{BB962C8B-B14F-4D97-AF65-F5344CB8AC3E}">
        <p14:creationId xmlns:p14="http://schemas.microsoft.com/office/powerpoint/2010/main" val="3219934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Varianza explicada</a:t>
            </a:r>
          </a:p>
        </p:txBody>
      </p:sp>
      <p:sp>
        <p:nvSpPr>
          <p:cNvPr id="10" name="Content Placeholder 2"/>
          <p:cNvSpPr txBox="1"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 dirty="0"/>
          </a:p>
          <a:p>
            <a:pPr marL="457200" lvl="1" indent="0">
              <a:buFont typeface="Arial" pitchFamily="34" charset="0"/>
              <a:buNone/>
            </a:pPr>
            <a:r>
              <a:rPr lang="es-CL" i="1" dirty="0"/>
              <a:t>r = </a:t>
            </a:r>
            <a:r>
              <a:rPr lang="es-CL" dirty="0"/>
              <a:t>0.1 </a:t>
            </a:r>
            <a:r>
              <a:rPr lang="es-CL" dirty="0">
                <a:sym typeface="Wingdings" pitchFamily="2" charset="2"/>
              </a:rPr>
              <a:t> Relación pequeña  </a:t>
            </a:r>
            <a:r>
              <a:rPr lang="es-CL" i="1" dirty="0">
                <a:sym typeface="Wingdings" pitchFamily="2" charset="2"/>
              </a:rPr>
              <a:t>r</a:t>
            </a:r>
            <a:r>
              <a:rPr lang="es-CL" i="1" baseline="30000" dirty="0">
                <a:sym typeface="Wingdings" pitchFamily="2" charset="2"/>
              </a:rPr>
              <a:t>2</a:t>
            </a:r>
            <a:r>
              <a:rPr lang="es-CL" dirty="0">
                <a:sym typeface="Wingdings" pitchFamily="2" charset="2"/>
              </a:rPr>
              <a:t> = 0.01  1%</a:t>
            </a:r>
          </a:p>
          <a:p>
            <a:pPr marL="457200" lvl="1" indent="0">
              <a:buNone/>
            </a:pPr>
            <a:r>
              <a:rPr lang="es-CL" i="1" dirty="0"/>
              <a:t>r = </a:t>
            </a:r>
            <a:r>
              <a:rPr lang="es-CL" dirty="0">
                <a:sym typeface="Wingdings" pitchFamily="2" charset="2"/>
              </a:rPr>
              <a:t>0.3  Relación mediana  </a:t>
            </a:r>
            <a:r>
              <a:rPr lang="es-CL" i="1" dirty="0">
                <a:sym typeface="Wingdings" pitchFamily="2" charset="2"/>
              </a:rPr>
              <a:t>r</a:t>
            </a:r>
            <a:r>
              <a:rPr lang="es-CL" i="1" baseline="30000" dirty="0">
                <a:sym typeface="Wingdings" pitchFamily="2" charset="2"/>
              </a:rPr>
              <a:t>2 </a:t>
            </a:r>
            <a:r>
              <a:rPr lang="es-CL" dirty="0">
                <a:sym typeface="Wingdings" pitchFamily="2" charset="2"/>
              </a:rPr>
              <a:t>= 0.09  9%</a:t>
            </a:r>
          </a:p>
          <a:p>
            <a:pPr marL="457200" lvl="1" indent="0">
              <a:buNone/>
            </a:pPr>
            <a:r>
              <a:rPr lang="es-CL" i="1" dirty="0"/>
              <a:t>r = </a:t>
            </a:r>
            <a:r>
              <a:rPr lang="es-CL" dirty="0">
                <a:sym typeface="Wingdings" pitchFamily="2" charset="2"/>
              </a:rPr>
              <a:t>0.5  Relación fuerte  </a:t>
            </a:r>
            <a:r>
              <a:rPr lang="es-CL" i="1" dirty="0">
                <a:sym typeface="Wingdings" pitchFamily="2" charset="2"/>
              </a:rPr>
              <a:t>r</a:t>
            </a:r>
            <a:r>
              <a:rPr lang="es-CL" i="1" baseline="30000" dirty="0">
                <a:sym typeface="Wingdings" pitchFamily="2" charset="2"/>
              </a:rPr>
              <a:t>2 </a:t>
            </a:r>
            <a:r>
              <a:rPr lang="es-CL" dirty="0">
                <a:sym typeface="Wingdings" pitchFamily="2" charset="2"/>
              </a:rPr>
              <a:t>= 0.25  25%</a:t>
            </a:r>
          </a:p>
        </p:txBody>
      </p:sp>
    </p:spTree>
    <p:extLst>
      <p:ext uri="{BB962C8B-B14F-4D97-AF65-F5344CB8AC3E}">
        <p14:creationId xmlns:p14="http://schemas.microsoft.com/office/powerpoint/2010/main" val="2096677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Tw Cen MT" panose="020B0602020104020603" pitchFamily="34" charset="0"/>
              </a:rPr>
              <a:t>¿Logro en lenguaje se relaciona con logro en conocimiento cívico?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8D25A9-C7A3-401C-923F-BA8C445BA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184" y="1556791"/>
            <a:ext cx="5913632" cy="51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98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365104"/>
            <a:ext cx="8229600" cy="20162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Tw Cen MT" panose="020B0602020104020603" pitchFamily="34" charset="0"/>
              <a:cs typeface="Courier"/>
            </a:endParaRPr>
          </a:p>
          <a:p>
            <a:pPr marL="0" indent="0">
              <a:buNone/>
            </a:pP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Los estudiantes con mayores niveles de logro en la prueba de lenguaje tienden a obtener mayores niveles en la prueba de conocimiento cívico (</a:t>
            </a:r>
            <a:r>
              <a:rPr lang="es-CL" sz="3800" i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r </a:t>
            </a:r>
            <a:r>
              <a:rPr lang="es-CL" sz="2100" i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(3341)</a:t>
            </a:r>
            <a:r>
              <a:rPr lang="es-CL" sz="2100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 </a:t>
            </a: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= .61, </a:t>
            </a:r>
            <a:r>
              <a:rPr lang="es-CL" sz="3800" i="1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p</a:t>
            </a:r>
            <a:r>
              <a:rPr lang="es-CL" sz="3800" dirty="0">
                <a:solidFill>
                  <a:schemeClr val="accent3">
                    <a:lumMod val="50000"/>
                  </a:schemeClr>
                </a:solidFill>
                <a:latin typeface="Tw Cen MT" panose="020B0602020104020603" pitchFamily="34" charset="0"/>
                <a:cs typeface="Times"/>
              </a:rPr>
              <a:t> &lt; .01).</a:t>
            </a: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Tw Cen MT" panose="020B0602020104020603" pitchFamily="34" charset="0"/>
              <a:cs typeface="Courier"/>
            </a:endParaRP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Tw Cen MT" panose="020B0602020104020603" pitchFamily="34" charset="0"/>
              <a:cs typeface="Courier"/>
            </a:endParaRPr>
          </a:p>
          <a:p>
            <a:pPr marL="0" indent="0">
              <a:buNone/>
            </a:pPr>
            <a:endParaRPr lang="es-CL" dirty="0">
              <a:solidFill>
                <a:srgbClr val="C0504D"/>
              </a:solidFill>
              <a:latin typeface="Tw Cen MT" panose="020B0602020104020603" pitchFamily="34" charset="0"/>
              <a:cs typeface="Courier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DFDCB8B-0CA8-49FD-A6E9-D692B9A1E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980728"/>
            <a:ext cx="5294182" cy="311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8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Tw Cen MT" panose="020B0602020104020603" pitchFamily="34" charset="0"/>
              </a:rPr>
              <a:t>¿Cómo sabemos si la correlación es significativa?</a:t>
            </a:r>
          </a:p>
        </p:txBody>
      </p:sp>
      <p:pic>
        <p:nvPicPr>
          <p:cNvPr id="5" name="Picture 2" descr="http://upload.wikimedia.org/wikipedia/commons/thumb/4/41/Student_t_pdf.svg/1000px-Student_t_pdf.svg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89"/>
          <a:stretch/>
        </p:blipFill>
        <p:spPr bwMode="auto">
          <a:xfrm>
            <a:off x="467544" y="2420887"/>
            <a:ext cx="4293350" cy="30469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5022107" y="3798168"/>
            <a:ext cx="38068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Una correlación entre dos variables tiene </a:t>
            </a:r>
            <a:r>
              <a:rPr lang="es-CL" i="1" dirty="0"/>
              <a:t>n</a:t>
            </a:r>
            <a:r>
              <a:rPr lang="es-CL" dirty="0"/>
              <a:t> – 2 grados de libertad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031344" y="5022304"/>
            <a:ext cx="3806814" cy="135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i="1" dirty="0"/>
              <a:t>Al igual que en una prueba t, pueden ocupar un contraste unilateral si tienen una hipótesis clara sobre la dirección de la relación</a:t>
            </a:r>
          </a:p>
        </p:txBody>
      </p:sp>
      <p:sp>
        <p:nvSpPr>
          <p:cNvPr id="3" name="2 Rectángulo"/>
          <p:cNvSpPr/>
          <p:nvPr/>
        </p:nvSpPr>
        <p:spPr>
          <a:xfrm>
            <a:off x="823182" y="1772505"/>
            <a:ext cx="3776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i="1" dirty="0"/>
              <a:t>t </a:t>
            </a:r>
            <a:r>
              <a:rPr lang="es-CL" dirty="0"/>
              <a:t>es el estimador dividido por el error estándar del estimador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088" y="1844824"/>
            <a:ext cx="3059832" cy="149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26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Tw Cen MT" panose="020B0602020104020603" pitchFamily="34" charset="0"/>
              </a:rPr>
              <a:t>¿Cómo sabemos si la correlación es significativa?</a:t>
            </a:r>
          </a:p>
        </p:txBody>
      </p:sp>
      <p:pic>
        <p:nvPicPr>
          <p:cNvPr id="5" name="Picture 2" descr="http://upload.wikimedia.org/wikipedia/commons/thumb/4/41/Student_t_pdf.svg/1000px-Student_t_pdf.svg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89"/>
          <a:stretch/>
        </p:blipFill>
        <p:spPr bwMode="auto">
          <a:xfrm>
            <a:off x="467544" y="2420887"/>
            <a:ext cx="4293350" cy="30469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064" y="5486400"/>
                <a:ext cx="78124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160" y="5480644"/>
                <a:ext cx="781240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b="0" i="1" smtClean="0">
                          <a:latin typeface="Cambria Math"/>
                        </a:rPr>
                        <m:t>𝑟</m:t>
                      </m:r>
                      <m:r>
                        <a:rPr lang="es-CL" b="0" i="1" smtClean="0">
                          <a:latin typeface="Cambria Math"/>
                        </a:rPr>
                        <m:t>=−1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20" y="5517148"/>
                <a:ext cx="954364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/>
          <p:cNvSpPr txBox="1">
            <a:spLocks/>
          </p:cNvSpPr>
          <p:nvPr/>
        </p:nvSpPr>
        <p:spPr>
          <a:xfrm>
            <a:off x="5022107" y="3798168"/>
            <a:ext cx="38068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Una correlación entre dos variables tiene </a:t>
            </a:r>
            <a:r>
              <a:rPr lang="es-CL" i="1" dirty="0"/>
              <a:t>n</a:t>
            </a:r>
            <a:r>
              <a:rPr lang="es-CL" dirty="0"/>
              <a:t> – 2 grados de libertad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031344" y="5022304"/>
            <a:ext cx="3806814" cy="1359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i="1" dirty="0"/>
              <a:t>Al igual que en una prueba t, pueden ocupar un contraste unilateral si tienen una hipótesis clara sobre la dirección de la relación</a:t>
            </a:r>
          </a:p>
        </p:txBody>
      </p:sp>
      <p:sp>
        <p:nvSpPr>
          <p:cNvPr id="3" name="2 Rectángulo"/>
          <p:cNvSpPr/>
          <p:nvPr/>
        </p:nvSpPr>
        <p:spPr>
          <a:xfrm>
            <a:off x="823182" y="1772505"/>
            <a:ext cx="3776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i="1" dirty="0"/>
              <a:t>t </a:t>
            </a:r>
            <a:r>
              <a:rPr lang="es-CL" dirty="0"/>
              <a:t>es el estimador dividido por el error estándar del estimador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514" y="1435235"/>
            <a:ext cx="1326286" cy="6463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E893F23B-C583-4FE6-B2E6-6F697FAF37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16532" y="2306141"/>
                <a:ext cx="3806814" cy="1143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5000" lnSpcReduction="200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CL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0,6090542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MX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1−0,372</m:t>
                                </m:r>
                              </m:num>
                              <m:den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3443−2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s-CL" dirty="0"/>
                  <a:t>= 44.386</a:t>
                </a: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E893F23B-C583-4FE6-B2E6-6F697FAF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532" y="2306141"/>
                <a:ext cx="3806814" cy="1143000"/>
              </a:xfrm>
              <a:prstGeom prst="rect">
                <a:avLst/>
              </a:prstGeom>
              <a:blipFill>
                <a:blip r:embed="rId9"/>
                <a:stretch>
                  <a:fillRect l="-2080" t="-9574" r="-176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468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i="1" dirty="0">
                <a:latin typeface="Tw Cen MT" panose="020B0602020104020603" pitchFamily="34" charset="0"/>
              </a:rPr>
              <a:t>r</a:t>
            </a:r>
            <a:r>
              <a:rPr lang="es-CL" baseline="30000" dirty="0">
                <a:latin typeface="Tw Cen MT" panose="020B0602020104020603" pitchFamily="34" charset="0"/>
              </a:rPr>
              <a:t>2</a:t>
            </a:r>
            <a:r>
              <a:rPr lang="es-CL" dirty="0">
                <a:latin typeface="Tw Cen MT" panose="020B0602020104020603" pitchFamily="34" charset="0"/>
              </a:rPr>
              <a:t> Varianza Explicada (o compartida)</a:t>
            </a:r>
            <a:endParaRPr lang="es-CL" i="1" dirty="0">
              <a:latin typeface="Tw Cen MT" panose="020B0602020104020603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s-ES_tradnl" dirty="0">
                <a:latin typeface="Tw Cen MT" panose="020B0602020104020603" pitchFamily="34" charset="0"/>
              </a:rPr>
              <a:t>Si las variables están relacionadas, quiere decir que tienen varianza en común</a:t>
            </a:r>
          </a:p>
          <a:p>
            <a:pPr eaLnBrk="1" hangingPunct="1"/>
            <a:endParaRPr lang="es-ES_tradnl" dirty="0">
              <a:latin typeface="Tw Cen MT" panose="020B0602020104020603" pitchFamily="34" charset="0"/>
            </a:endParaRPr>
          </a:p>
          <a:p>
            <a:pPr eaLnBrk="1" hangingPunct="1"/>
            <a:endParaRPr lang="es-ES_tradnl" dirty="0">
              <a:latin typeface="Tw Cen MT" panose="020B0602020104020603" pitchFamily="34" charset="0"/>
            </a:endParaRPr>
          </a:p>
          <a:p>
            <a:pPr eaLnBrk="1" hangingPunct="1"/>
            <a:endParaRPr lang="es-ES_tradnl" sz="1300" dirty="0">
              <a:latin typeface="Tw Cen MT" panose="020B0602020104020603" pitchFamily="34" charset="0"/>
            </a:endParaRPr>
          </a:p>
          <a:p>
            <a:pPr eaLnBrk="1" hangingPunct="1">
              <a:buFont typeface="Wingdings" charset="2"/>
              <a:buNone/>
            </a:pPr>
            <a:r>
              <a:rPr lang="es-ES_tradnl" sz="2000" dirty="0">
                <a:latin typeface="Tw Cen MT" panose="020B0602020104020603" pitchFamily="34" charset="0"/>
              </a:rPr>
              <a:t>		</a:t>
            </a:r>
          </a:p>
          <a:p>
            <a:pPr eaLnBrk="1" hangingPunct="1">
              <a:buFont typeface="Wingdings" charset="2"/>
              <a:buNone/>
            </a:pPr>
            <a:r>
              <a:rPr lang="es-ES_tradnl" sz="2000" dirty="0">
                <a:latin typeface="Tw Cen MT" panose="020B0602020104020603" pitchFamily="34" charset="0"/>
              </a:rPr>
              <a:t>		</a:t>
            </a:r>
            <a:r>
              <a:rPr lang="es-ES_tradnl" sz="2000" i="1" dirty="0">
                <a:latin typeface="Tw Cen MT" panose="020B0602020104020603" pitchFamily="34" charset="0"/>
              </a:rPr>
              <a:t>r </a:t>
            </a:r>
            <a:r>
              <a:rPr lang="es-ES_tradnl" sz="2000" baseline="-25000" dirty="0" err="1">
                <a:latin typeface="Tw Cen MT" panose="020B0602020104020603" pitchFamily="34" charset="0"/>
              </a:rPr>
              <a:t>xy</a:t>
            </a:r>
            <a:r>
              <a:rPr lang="es-ES_tradnl" sz="2000" baseline="-25000" dirty="0">
                <a:latin typeface="Tw Cen MT" panose="020B0602020104020603" pitchFamily="34" charset="0"/>
              </a:rPr>
              <a:t> </a:t>
            </a:r>
            <a:r>
              <a:rPr lang="es-ES_tradnl" sz="2000" dirty="0">
                <a:latin typeface="Tw Cen MT" panose="020B0602020104020603" pitchFamily="34" charset="0"/>
              </a:rPr>
              <a:t>= 0		           r </a:t>
            </a:r>
            <a:r>
              <a:rPr lang="es-ES_tradnl" sz="2000" baseline="-25000" dirty="0" err="1">
                <a:latin typeface="Tw Cen MT" panose="020B0602020104020603" pitchFamily="34" charset="0"/>
              </a:rPr>
              <a:t>xy</a:t>
            </a:r>
            <a:r>
              <a:rPr lang="es-ES_tradnl" sz="2000" baseline="-25000" dirty="0">
                <a:latin typeface="Tw Cen MT" panose="020B0602020104020603" pitchFamily="34" charset="0"/>
              </a:rPr>
              <a:t>  </a:t>
            </a:r>
            <a:r>
              <a:rPr lang="es-ES_tradnl" sz="2000" dirty="0">
                <a:latin typeface="Tw Cen MT" panose="020B0602020104020603" pitchFamily="34" charset="0"/>
              </a:rPr>
              <a:t>= 0.71		       r </a:t>
            </a:r>
            <a:r>
              <a:rPr lang="es-ES_tradnl" sz="2000" baseline="-25000" dirty="0" err="1">
                <a:latin typeface="Tw Cen MT" panose="020B0602020104020603" pitchFamily="34" charset="0"/>
              </a:rPr>
              <a:t>xy</a:t>
            </a:r>
            <a:r>
              <a:rPr lang="es-ES_tradnl" sz="2000" baseline="-25000" dirty="0">
                <a:latin typeface="Tw Cen MT" panose="020B0602020104020603" pitchFamily="34" charset="0"/>
              </a:rPr>
              <a:t>  </a:t>
            </a:r>
            <a:r>
              <a:rPr lang="es-ES_tradnl" sz="2000" dirty="0">
                <a:latin typeface="Tw Cen MT" panose="020B0602020104020603" pitchFamily="34" charset="0"/>
              </a:rPr>
              <a:t>= 0.98</a:t>
            </a:r>
          </a:p>
          <a:p>
            <a:pPr eaLnBrk="1" hangingPunct="1">
              <a:buFont typeface="Wingdings" charset="2"/>
              <a:buNone/>
            </a:pPr>
            <a:endParaRPr lang="es-ES_tradnl" sz="2000" dirty="0">
              <a:latin typeface="Tw Cen MT" panose="020B0602020104020603" pitchFamily="34" charset="0"/>
            </a:endParaRPr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9921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20589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38877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7" name="Oval 7"/>
          <p:cNvSpPr>
            <a:spLocks noChangeArrowheads="1"/>
          </p:cNvSpPr>
          <p:nvPr/>
        </p:nvSpPr>
        <p:spPr bwMode="auto">
          <a:xfrm>
            <a:off x="42687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8" name="Oval 8"/>
          <p:cNvSpPr>
            <a:spLocks noChangeArrowheads="1"/>
          </p:cNvSpPr>
          <p:nvPr/>
        </p:nvSpPr>
        <p:spPr bwMode="auto">
          <a:xfrm>
            <a:off x="6478588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6569036" y="3506788"/>
            <a:ext cx="911225" cy="911225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311275" y="38814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s-CL"/>
          </a:p>
        </p:txBody>
      </p:sp>
      <p:sp>
        <p:nvSpPr>
          <p:cNvPr id="3" name="Rectangle 2"/>
          <p:cNvSpPr/>
          <p:nvPr/>
        </p:nvSpPr>
        <p:spPr>
          <a:xfrm>
            <a:off x="827584" y="4822701"/>
            <a:ext cx="756084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400" b="1" dirty="0">
                <a:solidFill>
                  <a:srgbClr val="FF0000"/>
                </a:solidFill>
                <a:cs typeface="Times"/>
              </a:rPr>
              <a:t>Logro en lenguaje y logro en cívica comparten un 37,2% de varianza. </a:t>
            </a:r>
          </a:p>
          <a:p>
            <a:endParaRPr lang="es-CL" dirty="0">
              <a:solidFill>
                <a:schemeClr val="accent3">
                  <a:lumMod val="50000"/>
                </a:schemeClr>
              </a:solidFill>
              <a:cs typeface="Times"/>
            </a:endParaRPr>
          </a:p>
          <a:p>
            <a:r>
              <a:rPr lang="es-CL" sz="2400" dirty="0">
                <a:cs typeface="Times"/>
              </a:rPr>
              <a:t>Simplemente hay que elevar </a:t>
            </a:r>
            <a:r>
              <a:rPr lang="es-CL" sz="2400" i="1" dirty="0">
                <a:cs typeface="Times"/>
              </a:rPr>
              <a:t>r</a:t>
            </a:r>
            <a:r>
              <a:rPr lang="es-CL" sz="2400" dirty="0">
                <a:cs typeface="Times"/>
              </a:rPr>
              <a:t> al cuadrado y multiplicar por 100 (</a:t>
            </a:r>
            <a:r>
              <a:rPr lang="es-CL" sz="2400" i="1" dirty="0">
                <a:cs typeface="Times"/>
              </a:rPr>
              <a:t>r</a:t>
            </a:r>
            <a:r>
              <a:rPr lang="es-CL" sz="2400" dirty="0">
                <a:cs typeface="Times"/>
              </a:rPr>
              <a:t> = .61, </a:t>
            </a:r>
            <a:r>
              <a:rPr lang="es-CL" sz="2400" i="1" dirty="0">
                <a:cs typeface="Times"/>
              </a:rPr>
              <a:t>r</a:t>
            </a:r>
            <a:r>
              <a:rPr lang="es-CL" sz="2400" baseline="30000" dirty="0">
                <a:cs typeface="Times"/>
              </a:rPr>
              <a:t>2</a:t>
            </a:r>
            <a:r>
              <a:rPr lang="es-CL" sz="2400" i="1" dirty="0">
                <a:cs typeface="Times"/>
              </a:rPr>
              <a:t> </a:t>
            </a:r>
            <a:r>
              <a:rPr lang="es-CL" sz="2400" dirty="0">
                <a:cs typeface="Times"/>
              </a:rPr>
              <a:t>= .372 o expersado en porcentaje es 37,2%).</a:t>
            </a:r>
          </a:p>
        </p:txBody>
      </p:sp>
    </p:spTree>
    <p:extLst>
      <p:ext uri="{BB962C8B-B14F-4D97-AF65-F5344CB8AC3E}">
        <p14:creationId xmlns:p14="http://schemas.microsoft.com/office/powerpoint/2010/main" val="849942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Tw Cen MT" panose="020B0602020104020603" pitchFamily="34" charset="0"/>
              </a:rPr>
              <a:t>Varianza explicada</a:t>
            </a:r>
          </a:p>
        </p:txBody>
      </p:sp>
      <p:sp>
        <p:nvSpPr>
          <p:cNvPr id="10" name="Content Placeholder 2"/>
          <p:cNvSpPr txBox="1">
            <a:spLocks noGrp="1"/>
          </p:cNvSpPr>
          <p:nvPr>
            <p:ph idx="1"/>
          </p:nvPr>
        </p:nvSpPr>
        <p:spPr>
          <a:xfrm>
            <a:off x="395536" y="148478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 dirty="0">
              <a:latin typeface="Tw Cen MT" panose="020B0602020104020603" pitchFamily="34" charset="0"/>
            </a:endParaRPr>
          </a:p>
          <a:p>
            <a:pPr marL="457200" lvl="1" indent="0">
              <a:buFont typeface="Arial" pitchFamily="34" charset="0"/>
              <a:buNone/>
            </a:pPr>
            <a:r>
              <a:rPr lang="es-CL" i="1" dirty="0">
                <a:latin typeface="Tw Cen MT" panose="020B0602020104020603" pitchFamily="34" charset="0"/>
              </a:rPr>
              <a:t>r = </a:t>
            </a:r>
            <a:r>
              <a:rPr lang="es-CL" dirty="0">
                <a:latin typeface="Tw Cen MT" panose="020B0602020104020603" pitchFamily="34" charset="0"/>
              </a:rPr>
              <a:t>0.1 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 Relación pequeña  </a:t>
            </a:r>
            <a:r>
              <a:rPr lang="es-CL" i="1" dirty="0">
                <a:latin typeface="Tw Cen MT" panose="020B0602020104020603" pitchFamily="34" charset="0"/>
                <a:sym typeface="Wingdings" pitchFamily="2" charset="2"/>
              </a:rPr>
              <a:t>r</a:t>
            </a:r>
            <a:r>
              <a:rPr lang="es-CL" i="1" baseline="30000" dirty="0">
                <a:latin typeface="Tw Cen MT" panose="020B0602020104020603" pitchFamily="34" charset="0"/>
                <a:sym typeface="Wingdings" pitchFamily="2" charset="2"/>
              </a:rPr>
              <a:t>2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 = 0.01  1%</a:t>
            </a:r>
          </a:p>
          <a:p>
            <a:pPr marL="457200" lvl="1" indent="0">
              <a:buNone/>
            </a:pPr>
            <a:r>
              <a:rPr lang="es-CL" i="1" dirty="0">
                <a:latin typeface="Tw Cen MT" panose="020B0602020104020603" pitchFamily="34" charset="0"/>
              </a:rPr>
              <a:t>r = 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0.3  Relación mediana  </a:t>
            </a:r>
            <a:r>
              <a:rPr lang="es-CL" i="1" dirty="0">
                <a:latin typeface="Tw Cen MT" panose="020B0602020104020603" pitchFamily="34" charset="0"/>
                <a:sym typeface="Wingdings" pitchFamily="2" charset="2"/>
              </a:rPr>
              <a:t>r</a:t>
            </a:r>
            <a:r>
              <a:rPr lang="es-CL" i="1" baseline="30000" dirty="0">
                <a:latin typeface="Tw Cen MT" panose="020B0602020104020603" pitchFamily="34" charset="0"/>
                <a:sym typeface="Wingdings" pitchFamily="2" charset="2"/>
              </a:rPr>
              <a:t>2 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= 0.09  9%</a:t>
            </a:r>
          </a:p>
          <a:p>
            <a:pPr marL="457200" lvl="1" indent="0">
              <a:buNone/>
            </a:pPr>
            <a:r>
              <a:rPr lang="es-CL" i="1" dirty="0">
                <a:latin typeface="Tw Cen MT" panose="020B0602020104020603" pitchFamily="34" charset="0"/>
              </a:rPr>
              <a:t>r = 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0.5  Relación fuerte  </a:t>
            </a:r>
            <a:r>
              <a:rPr lang="es-CL" i="1" dirty="0">
                <a:latin typeface="Tw Cen MT" panose="020B0602020104020603" pitchFamily="34" charset="0"/>
                <a:sym typeface="Wingdings" pitchFamily="2" charset="2"/>
              </a:rPr>
              <a:t>r</a:t>
            </a:r>
            <a:r>
              <a:rPr lang="es-CL" i="1" baseline="30000" dirty="0">
                <a:latin typeface="Tw Cen MT" panose="020B0602020104020603" pitchFamily="34" charset="0"/>
                <a:sym typeface="Wingdings" pitchFamily="2" charset="2"/>
              </a:rPr>
              <a:t>2 </a:t>
            </a:r>
            <a:r>
              <a:rPr lang="es-CL" dirty="0">
                <a:latin typeface="Tw Cen MT" panose="020B0602020104020603" pitchFamily="34" charset="0"/>
                <a:sym typeface="Wingdings" pitchFamily="2" charset="2"/>
              </a:rPr>
              <a:t>= 0.25  25%</a:t>
            </a:r>
          </a:p>
        </p:txBody>
      </p:sp>
    </p:spTree>
    <p:extLst>
      <p:ext uri="{BB962C8B-B14F-4D97-AF65-F5344CB8AC3E}">
        <p14:creationId xmlns:p14="http://schemas.microsoft.com/office/powerpoint/2010/main" val="3960407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1862827"/>
            <a:ext cx="5829300" cy="1102519"/>
          </a:xfrm>
        </p:spPr>
        <p:txBody>
          <a:bodyPr>
            <a:normAutofit/>
          </a:bodyPr>
          <a:lstStyle/>
          <a:p>
            <a:pPr algn="ctr"/>
            <a:r>
              <a:rPr lang="es-ES_tradnl" sz="3375" dirty="0">
                <a:latin typeface="Tw Cen MT" panose="020B0602020104020603" pitchFamily="34" charset="0"/>
                <a:ea typeface="Tw Cen MT" charset="0"/>
                <a:cs typeface="Tw Cen MT" charset="0"/>
              </a:rPr>
              <a:t>Regresión Lineal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7B3DF3-EE9B-FFB0-CAE3-02ABBB283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34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Título"/>
          <p:cNvSpPr>
            <a:spLocks noGrp="1"/>
          </p:cNvSpPr>
          <p:nvPr>
            <p:ph type="title"/>
          </p:nvPr>
        </p:nvSpPr>
        <p:spPr>
          <a:xfrm>
            <a:off x="1439652" y="2618910"/>
            <a:ext cx="6172200" cy="857250"/>
          </a:xfrm>
        </p:spPr>
        <p:txBody>
          <a:bodyPr>
            <a:normAutofit/>
          </a:bodyPr>
          <a:lstStyle/>
          <a:p>
            <a:pPr algn="ctr"/>
            <a:r>
              <a:rPr lang="es-CL" sz="2700" dirty="0">
                <a:latin typeface="Tw Cen MT" panose="020B0602020104020603" pitchFamily="34" charset="0"/>
              </a:rPr>
              <a:t>Regresión lineal</a:t>
            </a:r>
            <a:endParaRPr lang="en-GB" sz="27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32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700" i="1" dirty="0">
                <a:latin typeface="Tw Cen MT" panose="020B0602020104020603" pitchFamily="34" charset="0"/>
              </a:rPr>
              <a:t>¿Para qué sirve?</a:t>
            </a:r>
            <a:endParaRPr lang="en-US" sz="2700" i="1" dirty="0">
              <a:latin typeface="Tw Cen MT" panose="020B06020201040206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920480"/>
            <a:ext cx="6172200" cy="3531394"/>
          </a:xfrm>
        </p:spPr>
        <p:txBody>
          <a:bodyPr>
            <a:normAutofit/>
          </a:bodyPr>
          <a:lstStyle/>
          <a:p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Vimos que con la Correlación podemos saber cuán fuertemente están relacionadas las variables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x 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e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y 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entre ellas.</a:t>
            </a:r>
          </a:p>
          <a:p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¿Pero podemos estimar el valor de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y 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a partir de los los valores de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x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? ¿O cuánto cambiará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y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, si </a:t>
            </a:r>
            <a:r>
              <a:rPr lang="es-ES" sz="22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x </a:t>
            </a:r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cambia en una unidad?</a:t>
            </a:r>
          </a:p>
          <a:p>
            <a:r>
              <a:rPr lang="es-ES" sz="2250" dirty="0">
                <a:latin typeface="Tw Cen MT" panose="020B0602020104020603" pitchFamily="34" charset="0"/>
                <a:ea typeface="Calibri" charset="0"/>
                <a:cs typeface="Calibri" charset="0"/>
              </a:rPr>
              <a:t>Este es el concepto de regresion.</a:t>
            </a:r>
          </a:p>
          <a:p>
            <a:pPr marL="0" indent="0">
              <a:buNone/>
            </a:pPr>
            <a:endParaRPr lang="es-E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6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Regresión Lineal Simple</a:t>
            </a:r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La Regresión Lineal simple sirve para predecir una variable, sabiendo cómo se comporta la otra.</a:t>
            </a:r>
          </a:p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Esto lo hace a partir de la recta de regresión, en torno a la cual, se ajustan los datos con las distancias cuadráticas mínimas.</a:t>
            </a:r>
          </a:p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Esta recta (línea) de regresión representa la mejor solución estimada para predecir los datos (variable dependiente) a partir de las variables independiente: </a:t>
            </a:r>
            <a:r>
              <a:rPr lang="es-ES" b="1" i="1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línea o recta con el mejor ajuste</a:t>
            </a:r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.</a:t>
            </a:r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endParaRPr lang="es-E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1667215" y="976332"/>
            <a:ext cx="5829300" cy="1102519"/>
          </a:xfrm>
        </p:spPr>
        <p:txBody>
          <a:bodyPr>
            <a:normAutofit/>
          </a:bodyPr>
          <a:lstStyle/>
          <a:p>
            <a:r>
              <a:rPr lang="es-CL" sz="2700" i="1" dirty="0">
                <a:latin typeface="Tw Cen MT" panose="020B0602020104020603" pitchFamily="34" charset="0"/>
              </a:rPr>
              <a:t>Regresión lineal</a:t>
            </a:r>
            <a:endParaRPr lang="en-GB" sz="2700" i="1" dirty="0">
              <a:latin typeface="Tw Cen MT" panose="020B0602020104020603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8E8FAA9-2C25-4727-9876-B2A3D1949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511" y="2071148"/>
            <a:ext cx="5594961" cy="33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79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800100" y="1216060"/>
            <a:ext cx="7286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El análisis de regresión calcula una ecuación de la recta con los parámetros que mejor se ajustan a los datos.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1493659" y="2510898"/>
                <a:ext cx="6048671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675" dirty="0"/>
                  <a:t>En este caso, los niveles de logro en lenguaje predicen significativamente logro en cívica (</a:t>
                </a:r>
                <a14:m>
                  <m:oMath xmlns:m="http://schemas.openxmlformats.org/officeDocument/2006/math">
                    <m:r>
                      <a:rPr lang="es-CL" sz="675" i="1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GB" sz="675" dirty="0"/>
                  <a:t> = 1.30, </a:t>
                </a:r>
                <a:r>
                  <a:rPr lang="en-GB" sz="675" i="1" dirty="0"/>
                  <a:t>p</a:t>
                </a:r>
                <a:r>
                  <a:rPr lang="en-GB" sz="675" dirty="0"/>
                  <a:t> &lt; .05).</a:t>
                </a:r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659" y="2510898"/>
                <a:ext cx="6048671" cy="196208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93980" y="1862827"/>
            <a:ext cx="45399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700" i="1" dirty="0">
                <a:solidFill>
                  <a:srgbClr val="190CC2"/>
                </a:solidFill>
              </a:rPr>
              <a:t>Yi = constante + </a:t>
            </a:r>
            <a:r>
              <a:rPr lang="es-CL" sz="2700" i="1" dirty="0">
                <a:solidFill>
                  <a:srgbClr val="190CC2"/>
                </a:solidFill>
                <a:latin typeface="Symbol" charset="2"/>
                <a:cs typeface="Symbol" charset="2"/>
              </a:rPr>
              <a:t>b1 * </a:t>
            </a:r>
            <a:r>
              <a:rPr lang="es-CL" sz="2700" i="1" dirty="0">
                <a:solidFill>
                  <a:srgbClr val="190CC2"/>
                </a:solidFill>
                <a:latin typeface="Times"/>
                <a:cs typeface="Times"/>
              </a:rPr>
              <a:t>x </a:t>
            </a:r>
            <a:r>
              <a:rPr lang="es-CL" sz="2700" dirty="0">
                <a:solidFill>
                  <a:srgbClr val="190CC2"/>
                </a:solidFill>
                <a:latin typeface="Times"/>
                <a:cs typeface="Times"/>
              </a:rPr>
              <a:t>+ </a:t>
            </a:r>
            <a:r>
              <a:rPr lang="es-CL" sz="2700" i="1" dirty="0">
                <a:solidFill>
                  <a:srgbClr val="190CC2"/>
                </a:solidFill>
                <a:latin typeface="Times"/>
                <a:cs typeface="Times"/>
              </a:rPr>
              <a:t>error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380C01-BBDA-4D45-8615-8304E4907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742" y="3320988"/>
            <a:ext cx="4220385" cy="251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61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Ecuación de Regresión</a:t>
            </a:r>
            <a:endParaRPr lang="en-US" sz="2250" dirty="0"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El análisis de Regresión lineal nos entrega también una </a:t>
            </a:r>
            <a:r>
              <a:rPr lang="es-ES" b="1" i="1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ecuación de regresión</a:t>
            </a:r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, una fórmula, que describe a la recta o línea de regresión.</a:t>
            </a:r>
          </a:p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Esta ecuación de regresión se basa en la </a:t>
            </a:r>
            <a:r>
              <a:rPr lang="es-ES" b="1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ecuación de la recta</a:t>
            </a:r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: </a:t>
            </a:r>
            <a:r>
              <a:rPr lang="es-ES" b="1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y = a + </a:t>
            </a:r>
            <a:r>
              <a:rPr lang="es-ES" b="1" dirty="0" err="1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bx</a:t>
            </a:r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50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Ecuación de Regresión</a:t>
            </a:r>
            <a:endParaRPr lang="en-US" dirty="0">
              <a:solidFill>
                <a:schemeClr val="tx1"/>
              </a:solidFill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s-ES" sz="135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Entonces la ecuación de la recta sería</a:t>
                </a:r>
              </a:p>
              <a:p>
                <a:endParaRPr lang="es-ES" sz="1350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marL="0" indent="0" algn="ctr">
                  <a:buNone/>
                </a:pPr>
                <a:r>
                  <a:rPr lang="es-ES" sz="1350" b="1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y = a + bx + ē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3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35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35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35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acc>
                            <m:accPr>
                              <m:chr m:val="̇"/>
                              <m:ctrlPr>
                                <a:rPr lang="es-MX" sz="13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MX" sz="13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s-ES" sz="1350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marL="0" indent="0">
                  <a:buNone/>
                </a:pPr>
                <a:r>
                  <a:rPr lang="es-ES" sz="135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Donde: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s-MX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350" dirty="0">
                    <a:latin typeface="Tw Cen MT" panose="020B0602020104020603" pitchFamily="34" charset="0"/>
                  </a:rPr>
                  <a:t> es la variable dependiente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s-MX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350" dirty="0">
                    <a:latin typeface="Tw Cen MT" panose="020B0602020104020603" pitchFamily="34" charset="0"/>
                  </a:rPr>
                  <a:t> son las variables independientes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s-MX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s-MX" sz="135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MX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</m:sub>
                    </m:sSub>
                  </m:oMath>
                </a14:m>
                <a:r>
                  <a:rPr lang="es-MX" sz="1350" dirty="0">
                    <a:latin typeface="Tw Cen MT" panose="020B0602020104020603" pitchFamily="34" charset="0"/>
                  </a:rPr>
                  <a:t> es el error asociado a la estimación de Y (error de </a:t>
                </a:r>
                <a:r>
                  <a:rPr lang="en-US" sz="1350" dirty="0" err="1">
                    <a:latin typeface="Tw Cen MT" panose="020B0602020104020603" pitchFamily="34" charset="0"/>
                  </a:rPr>
                  <a:t>estimación</a:t>
                </a:r>
                <a:r>
                  <a:rPr lang="en-US" sz="1350" dirty="0">
                    <a:latin typeface="Tw Cen MT" panose="020B0602020104020603" pitchFamily="34" charset="0"/>
                  </a:rPr>
                  <a:t> individual)</a:t>
                </a:r>
              </a:p>
              <a:p>
                <a:pPr algn="l"/>
                <a:r>
                  <a:rPr lang="es-MX" sz="1350" dirty="0">
                    <a:latin typeface="Tw Cen MT" panose="020B0602020104020603" pitchFamily="34" charset="0"/>
                  </a:rPr>
                  <a:t>El parámetro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sz="1350" dirty="0">
                    <a:latin typeface="Tw Cen MT" panose="020B0602020104020603" pitchFamily="34" charset="0"/>
                  </a:rPr>
                  <a:t> es el intercepto (Valor de Y cuando los </a:t>
                </a:r>
                <a:r>
                  <a:rPr lang="en-US" sz="1350" dirty="0">
                    <a:latin typeface="Tw Cen MT" panose="020B0602020104020603" pitchFamily="34" charset="0"/>
                  </a:rPr>
                  <a:t>X = 0)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s-MX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35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1350" dirty="0">
                    <a:latin typeface="Tw Cen MT" panose="020B0602020104020603" pitchFamily="34" charset="0"/>
                  </a:rPr>
                  <a:t> son las pendientes estimadas. Que indican cuanto cambia, en promedio, Y ante el cambio de una unidad de X (considerando todas las otras X del modelo como constantes, </a:t>
                </a:r>
                <a:r>
                  <a:rPr lang="en-US" sz="1350" dirty="0" err="1">
                    <a:latin typeface="Tw Cen MT" panose="020B0602020104020603" pitchFamily="34" charset="0"/>
                  </a:rPr>
                  <a:t>Seteris</a:t>
                </a:r>
                <a:r>
                  <a:rPr lang="en-US" sz="1350" dirty="0">
                    <a:latin typeface="Tw Cen MT" panose="020B0602020104020603" pitchFamily="34" charset="0"/>
                  </a:rPr>
                  <a:t> Paribus, </a:t>
                </a:r>
                <a:r>
                  <a:rPr lang="en-US" sz="1350" dirty="0" err="1">
                    <a:latin typeface="Tw Cen MT" panose="020B0602020104020603" pitchFamily="34" charset="0"/>
                  </a:rPr>
                  <a:t>cuando</a:t>
                </a:r>
                <a:r>
                  <a:rPr lang="en-US" sz="1350" dirty="0">
                    <a:latin typeface="Tw Cen MT" panose="020B0602020104020603" pitchFamily="34" charset="0"/>
                  </a:rPr>
                  <a:t> hay </a:t>
                </a:r>
                <a:r>
                  <a:rPr lang="en-US" sz="1350" dirty="0" err="1">
                    <a:latin typeface="Tw Cen MT" panose="020B0602020104020603" pitchFamily="34" charset="0"/>
                  </a:rPr>
                  <a:t>otros</a:t>
                </a:r>
                <a:r>
                  <a:rPr lang="en-US" sz="1350" dirty="0">
                    <a:latin typeface="Tw Cen MT" panose="020B0602020104020603" pitchFamily="34" charset="0"/>
                  </a:rPr>
                  <a:t> </a:t>
                </a:r>
                <a:r>
                  <a:rPr lang="en-US" sz="1350" dirty="0" err="1">
                    <a:latin typeface="Tw Cen MT" panose="020B0602020104020603" pitchFamily="34" charset="0"/>
                  </a:rPr>
                  <a:t>predictores</a:t>
                </a:r>
                <a:r>
                  <a:rPr lang="en-US" sz="1350" dirty="0">
                    <a:latin typeface="Tw Cen MT" panose="020B0602020104020603" pitchFamily="34" charset="0"/>
                  </a:rPr>
                  <a:t>)</a:t>
                </a:r>
                <a:endParaRPr lang="en-US" sz="1350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8" t="-3004" r="-966" b="-4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0157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Indicadores de Regresión.</a:t>
            </a:r>
          </a:p>
        </p:txBody>
      </p:sp>
    </p:spTree>
    <p:extLst>
      <p:ext uri="{BB962C8B-B14F-4D97-AF65-F5344CB8AC3E}">
        <p14:creationId xmlns:p14="http://schemas.microsoft.com/office/powerpoint/2010/main" val="18064625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Un ejemplo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862826"/>
            <a:ext cx="6172200" cy="3909324"/>
          </a:xfrm>
        </p:spPr>
        <p:txBody>
          <a:bodyPr>
            <a:normAutofit/>
          </a:bodyPr>
          <a:lstStyle/>
          <a:p>
            <a:pPr marL="270272" indent="-270272" algn="just"/>
            <a:endParaRPr lang="es-ES" sz="2025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270272" indent="-270272" algn="just"/>
            <a:r>
              <a:rPr lang="es-ES_tradnl" sz="2025" b="1" dirty="0">
                <a:latin typeface="Tw Cen MT" panose="020B0602020104020603" pitchFamily="34" charset="0"/>
                <a:ea typeface="Calibri" charset="0"/>
                <a:cs typeface="Calibri" charset="0"/>
              </a:rPr>
              <a:t>Queremos evaluar en qué medida las habilidades de lectura, el nivel educacional de los padres o la presencia de libros en el hogar se asocian con mayores niveles de conocimiento cívico.</a:t>
            </a:r>
          </a:p>
          <a:p>
            <a:pPr marL="270272" indent="-270272" algn="just"/>
            <a:endParaRPr lang="es-ES_tradnl" sz="2025" b="1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270272" indent="-270272" algn="just"/>
            <a:r>
              <a:rPr lang="es-ES_tradnl" sz="2025" b="1" dirty="0">
                <a:latin typeface="Tw Cen MT" panose="020B0602020104020603" pitchFamily="34" charset="0"/>
                <a:ea typeface="Calibri" charset="0"/>
                <a:cs typeface="Calibri" charset="0"/>
              </a:rPr>
              <a:t>Variable dependiente: ¿?</a:t>
            </a:r>
          </a:p>
          <a:p>
            <a:pPr marL="270272" indent="-270272" algn="just"/>
            <a:r>
              <a:rPr lang="es-ES_tradnl" sz="2025" b="1" dirty="0">
                <a:latin typeface="Tw Cen MT" panose="020B0602020104020603" pitchFamily="34" charset="0"/>
                <a:ea typeface="Calibri" charset="0"/>
                <a:cs typeface="Calibri" charset="0"/>
              </a:rPr>
              <a:t>Variables independientes: ¿?</a:t>
            </a:r>
            <a:endParaRPr lang="es-ES_tradnl" sz="2025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0" indent="0" algn="just">
              <a:buNone/>
            </a:pPr>
            <a:endParaRPr lang="es-ES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820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Un ejemplo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01A2E6-2628-4339-B569-57623A54E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" y="2749359"/>
            <a:ext cx="9003177" cy="138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986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Exploración gráfica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E258B6E-B4BC-48F4-A1E2-5FC20DC21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474" y="1920479"/>
            <a:ext cx="5415052" cy="3867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0888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Exploración correlacional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5AF4B5-7151-4161-8797-93DEDC46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814" y="2456892"/>
            <a:ext cx="2954911" cy="177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01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Exploración correlacional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44099E-5A93-4409-9C14-A048DC7F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93" y="2012149"/>
            <a:ext cx="2474810" cy="1057367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2C6881B6-AC65-4862-A22E-88430B72B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935" y="2212725"/>
            <a:ext cx="4990154" cy="356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6C111D-2C38-4F19-8177-6A85108BE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45" y="3212977"/>
            <a:ext cx="2492558" cy="278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091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8F0209-5A47-44B6-9EFF-915B533B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" y="1920478"/>
            <a:ext cx="4179677" cy="3560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05AF7E-080D-4109-AD50-EEF666BEC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876" y="1920478"/>
            <a:ext cx="4363616" cy="3851672"/>
          </a:xfrm>
        </p:spPr>
        <p:txBody>
          <a:bodyPr>
            <a:normAutofit/>
          </a:bodyPr>
          <a:lstStyle/>
          <a:p>
            <a:pPr algn="just"/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Coeficiente de determinación R</a:t>
            </a:r>
            <a:r>
              <a:rPr lang="es-ES" sz="1200" b="1" baseline="30000" dirty="0">
                <a:latin typeface="Tw Cen MT" panose="020B0602020104020603" pitchFamily="34" charset="0"/>
                <a:ea typeface="Calibri" charset="0"/>
                <a:cs typeface="Calibri" charset="0"/>
              </a:rPr>
              <a:t>2 </a:t>
            </a:r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: 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En la regresión simple es igual al cuadrado del coeficiente de correlación de Pearson y expresa la </a:t>
            </a:r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proporción de la varianza 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de la variable dependiente que se encuentra explicada por la variable independiente.</a:t>
            </a:r>
          </a:p>
          <a:p>
            <a:pPr algn="just"/>
            <a:endParaRPr lang="es-ES" sz="120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algn="just"/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Se calcula mediante la fórmula : </a:t>
            </a:r>
            <a:r>
              <a:rPr lang="es-ES" sz="9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R</a:t>
            </a:r>
            <a:r>
              <a:rPr lang="es-ES" sz="900" b="1" baseline="30000" dirty="0">
                <a:latin typeface="Tw Cen MT" panose="020B0602020104020603" pitchFamily="34" charset="0"/>
                <a:ea typeface="Calibri" charset="0"/>
                <a:cs typeface="Calibri" charset="0"/>
              </a:rPr>
              <a:t>2 </a:t>
            </a:r>
            <a:r>
              <a:rPr lang="es-ES" sz="900" dirty="0">
                <a:latin typeface="Tw Cen MT" panose="020B0602020104020603" pitchFamily="34" charset="0"/>
                <a:ea typeface="Calibri" charset="0"/>
                <a:cs typeface="Calibri" charset="0"/>
              </a:rPr>
              <a:t>= </a:t>
            </a:r>
            <a:r>
              <a:rPr lang="es-ES" sz="9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1- (</a:t>
            </a:r>
            <a:r>
              <a:rPr lang="es-ES" sz="900" b="1" u="sng" dirty="0">
                <a:latin typeface="Tw Cen MT" panose="020B0602020104020603" pitchFamily="34" charset="0"/>
                <a:ea typeface="Calibri" charset="0"/>
                <a:cs typeface="Calibri" charset="0"/>
              </a:rPr>
              <a:t>Suma cuadrado de los residuos </a:t>
            </a:r>
          </a:p>
          <a:p>
            <a:pPr marL="0" indent="0" algn="just">
              <a:buNone/>
            </a:pPr>
            <a:r>
              <a:rPr lang="es-ES" sz="9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                                                                                           Suma cuadrado  total)</a:t>
            </a:r>
          </a:p>
          <a:p>
            <a:pPr marL="270272" indent="-270272" algn="just"/>
            <a:endParaRPr lang="es-ES" sz="1200" b="1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270272" indent="-270272" algn="just"/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Coeficiente de determinación R</a:t>
            </a:r>
            <a:r>
              <a:rPr lang="es-ES" sz="1200" b="1" baseline="30000" dirty="0">
                <a:latin typeface="Tw Cen MT" panose="020B0602020104020603" pitchFamily="34" charset="0"/>
                <a:ea typeface="Calibri" charset="0"/>
                <a:cs typeface="Calibri" charset="0"/>
              </a:rPr>
              <a:t>2  </a:t>
            </a:r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corregido: 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Corrección realizada a R</a:t>
            </a:r>
            <a:r>
              <a:rPr lang="es-ES" sz="1200" baseline="30000" dirty="0">
                <a:latin typeface="Tw Cen MT" panose="020B0602020104020603" pitchFamily="34" charset="0"/>
                <a:ea typeface="Calibri" charset="0"/>
                <a:cs typeface="Calibri" charset="0"/>
              </a:rPr>
              <a:t>2 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 teniendo en cuenta el </a:t>
            </a:r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número de casos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(un bajo número de casos en la muestra podría generar un R</a:t>
            </a:r>
            <a:r>
              <a:rPr lang="es-ES" sz="1200" baseline="30000" dirty="0">
                <a:latin typeface="Tw Cen MT" panose="020B0602020104020603" pitchFamily="34" charset="0"/>
                <a:ea typeface="Calibri" charset="0"/>
                <a:cs typeface="Calibri" charset="0"/>
              </a:rPr>
              <a:t>2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 </a:t>
            </a:r>
            <a:r>
              <a:rPr lang="es-ES_tradnl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«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inflado» no representativo de la muestra población) y de </a:t>
            </a:r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variables independientes </a:t>
            </a:r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(para el caso de la regresión simple siempre es una sola). </a:t>
            </a:r>
          </a:p>
          <a:p>
            <a:pPr marL="270272" indent="-270272" algn="just"/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Este es el coeficiente que  concretamente se considera  dado que ya viene con la corrección del tamaño muestral.</a:t>
            </a:r>
          </a:p>
          <a:p>
            <a:pPr marL="0" indent="0" algn="just">
              <a:buNone/>
            </a:pPr>
            <a:endParaRPr lang="es-ES" sz="1200" dirty="0"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8985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8F0209-5A47-44B6-9EFF-915B533B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" y="1920478"/>
            <a:ext cx="4179677" cy="3560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05AF7E-080D-4109-AD50-EEF666BEC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876" y="1920479"/>
            <a:ext cx="4363616" cy="2258615"/>
          </a:xfrm>
        </p:spPr>
        <p:txBody>
          <a:bodyPr>
            <a:normAutofit/>
          </a:bodyPr>
          <a:lstStyle/>
          <a:p>
            <a:pPr algn="just"/>
            <a:r>
              <a:rPr lang="es-ES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ANOVA del modelo:  </a:t>
            </a:r>
            <a:r>
              <a:rPr lang="es-ES_tradnl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Mediante la interpretación del </a:t>
            </a:r>
            <a:r>
              <a:rPr lang="es-ES_tradnl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estadístico F</a:t>
            </a:r>
            <a:r>
              <a:rPr lang="es-ES_tradnl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 se puede determinar si existe una relación estadísticamente significativa entre las variables , poniendo a prueba la </a:t>
            </a:r>
            <a:r>
              <a:rPr lang="es-ES_tradnl" sz="1200" b="1" dirty="0">
                <a:latin typeface="Tw Cen MT" panose="020B0602020104020603" pitchFamily="34" charset="0"/>
                <a:ea typeface="Calibri" charset="0"/>
                <a:cs typeface="Calibri" charset="0"/>
              </a:rPr>
              <a:t>hipótesis nula de que el valor poblacional de R es igual a 0</a:t>
            </a:r>
            <a:r>
              <a:rPr lang="es-ES_tradnl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. Si  el nivel de significancia es = .000 , indica que el valor de R es distinto de 0  y que las variables se encuentran linealmente relacionadas.</a:t>
            </a:r>
          </a:p>
          <a:p>
            <a:pPr algn="just"/>
            <a:endParaRPr lang="es-ES_tradnl" sz="120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270272" indent="-270272" algn="just"/>
            <a:r>
              <a:rPr lang="es-ES" sz="1200" dirty="0">
                <a:latin typeface="Tw Cen MT" panose="020B0602020104020603" pitchFamily="34" charset="0"/>
                <a:ea typeface="Calibri" charset="0"/>
                <a:cs typeface="Calibri" charset="0"/>
              </a:rPr>
              <a:t>F(1,3278)= 1952; p&lt;0.001. Esto indica que el modelo de regresión explica más que los residuos (R mayor a 0).  </a:t>
            </a:r>
          </a:p>
          <a:p>
            <a:pPr marL="0" indent="0" algn="just">
              <a:buNone/>
            </a:pPr>
            <a:endParaRPr lang="es-ES" sz="1200" dirty="0"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B362FB-913B-4738-871E-B17490486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4091356"/>
            <a:ext cx="2988079" cy="168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59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tx1"/>
                </a:solidFill>
                <a:latin typeface="Tw Cen MT" panose="020B0602020104020603" pitchFamily="34" charset="0"/>
              </a:rPr>
              <a:t>Tabla </a:t>
            </a:r>
            <a:r>
              <a:rPr lang="es-ES_tradnl" dirty="0" err="1">
                <a:solidFill>
                  <a:schemeClr val="tx1"/>
                </a:solidFill>
                <a:latin typeface="Tw Cen MT" panose="020B0602020104020603" pitchFamily="34" charset="0"/>
              </a:rPr>
              <a:t>Distribuci</a:t>
            </a:r>
            <a:r>
              <a:rPr lang="es-ES" dirty="0" err="1">
                <a:solidFill>
                  <a:schemeClr val="tx1"/>
                </a:solidFill>
                <a:latin typeface="Tw Cen MT" panose="020B0602020104020603" pitchFamily="34" charset="0"/>
              </a:rPr>
              <a:t>ón</a:t>
            </a:r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</a:rPr>
              <a:t> F</a:t>
            </a:r>
            <a:endParaRPr lang="es-ES_tradnl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30" y="1754814"/>
            <a:ext cx="4614534" cy="4091430"/>
          </a:xfrm>
        </p:spPr>
      </p:pic>
    </p:spTree>
    <p:extLst>
      <p:ext uri="{BB962C8B-B14F-4D97-AF65-F5344CB8AC3E}">
        <p14:creationId xmlns:p14="http://schemas.microsoft.com/office/powerpoint/2010/main" val="723108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8F0209-5A47-44B6-9EFF-915B533B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" y="1920478"/>
            <a:ext cx="4179677" cy="3560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05AF7E-080D-4109-AD50-EEF666BECC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36876" y="1920478"/>
                <a:ext cx="4363616" cy="3851672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s-ES" sz="1500" b="1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Ecuación de la recta (coeficientes de regresión)</a:t>
                </a:r>
              </a:p>
              <a:p>
                <a:pPr algn="just"/>
                <a:endParaRPr lang="es-ES" sz="1500" b="1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sz="15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5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" sz="1500" b="1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algn="just"/>
                <a:r>
                  <a:rPr lang="es-ES" sz="1500" b="1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Intercepto (constante): </a:t>
                </a:r>
                <a:r>
                  <a:rPr lang="es-ES_tradnl" sz="15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Constituye el valor inicial de la recta de regresión </a:t>
                </a:r>
                <a:r>
                  <a:rPr lang="es-ES_tradnl" sz="1500" dirty="0" err="1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ó</a:t>
                </a:r>
                <a:r>
                  <a:rPr lang="es-ES_tradnl" sz="15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sz="15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 a partir desde puntuaciones directas. Es el intercepto de la recta.</a:t>
                </a:r>
              </a:p>
              <a:p>
                <a:pPr lvl="1" algn="just"/>
                <a:r>
                  <a:rPr lang="es-ES_tradnl" sz="1500" b="1" baseline="-250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267.85 (t=44.39; p&lt;0.001)</a:t>
                </a:r>
              </a:p>
              <a:p>
                <a:pPr algn="just"/>
                <a:endParaRPr lang="es-ES" sz="1500" b="1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algn="just"/>
                <a:r>
                  <a:rPr lang="es-ES" sz="1500" b="1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Pendiente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1500" b="1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): </a:t>
                </a:r>
                <a:r>
                  <a:rPr lang="es-ES_tradnl" sz="15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Corresponde a la pendiente de la línea de regresión 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s-MX" sz="1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15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, lo que en concreto indica cuánto cambia en promedio la VD por cada unidad que cambia la VI.</a:t>
                </a:r>
                <a:endParaRPr lang="es-ES_tradnl" sz="1500" baseline="-25000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lvl="1" algn="just"/>
                <a:r>
                  <a:rPr lang="es-ES_tradnl" sz="1500" b="1" baseline="-250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1.29 (t=44.18; p&lt;0.001)</a:t>
                </a:r>
              </a:p>
              <a:p>
                <a:pPr marL="342900" lvl="1" indent="0" algn="just">
                  <a:buNone/>
                </a:pPr>
                <a:endParaRPr lang="es-ES" sz="1200" dirty="0">
                  <a:latin typeface="Tw Cen MT" panose="020B0602020104020603" pitchFamily="34" charset="0"/>
                  <a:ea typeface="Calibri" charset="0"/>
                  <a:cs typeface="Calibri" charset="0"/>
                </a:endParaRPr>
              </a:p>
              <a:p>
                <a:pPr marL="342900" lvl="1" indent="0" algn="just">
                  <a:buNone/>
                </a:pPr>
                <a:r>
                  <a:rPr lang="es-ES" sz="12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CCIV= </a:t>
                </a:r>
              </a:p>
              <a:p>
                <a:pPr marL="342900" lvl="1" indent="0" algn="just">
                  <a:buNone/>
                </a:pPr>
                <a:r>
                  <a:rPr lang="es-ES" sz="12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267.85 + </a:t>
                </a:r>
              </a:p>
              <a:p>
                <a:pPr marL="342900" lvl="1" indent="0" algn="just">
                  <a:buNone/>
                </a:pPr>
                <a:r>
                  <a:rPr lang="es-ES" sz="1200" dirty="0">
                    <a:latin typeface="Tw Cen MT" panose="020B0602020104020603" pitchFamily="34" charset="0"/>
                    <a:ea typeface="Calibri" charset="0"/>
                    <a:cs typeface="Calibri" charset="0"/>
                  </a:rPr>
                  <a:t>1.29x(puntos de lenguaje)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05AF7E-080D-4109-AD50-EEF666BEC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36876" y="1920478"/>
                <a:ext cx="4363616" cy="3851672"/>
              </a:xfrm>
              <a:blipFill>
                <a:blip r:embed="rId4"/>
                <a:stretch>
                  <a:fillRect l="-581" t="-1316" r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7154BEC8-3103-49AB-8F7B-24A83885B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910" y="4547695"/>
            <a:ext cx="2034276" cy="145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910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8EBD51-B6B5-4097-847D-709E88F41E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33412" y="2071688"/>
                <a:ext cx="6024563" cy="3321239"/>
              </a:xfrm>
            </p:spPr>
            <p:txBody>
              <a:bodyPr anchor="t" anchorCtr="0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=267,85+1,29∗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100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200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300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 </a:t>
                </a:r>
              </a:p>
              <a:p>
                <a:pPr marL="0" indent="0">
                  <a:buNone/>
                </a:pPr>
                <a:endParaRPr lang="en-US" dirty="0">
                  <a:latin typeface="Tw Cen MT" panose="020B0602020104020603" pitchFamily="34" charset="77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8EBD51-B6B5-4097-847D-709E88F41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3412" y="2071688"/>
                <a:ext cx="6024563" cy="3321239"/>
              </a:xfrm>
              <a:blipFill>
                <a:blip r:embed="rId2"/>
                <a:stretch>
                  <a:fillRect l="-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434DD65-29BA-416E-960A-38AE09AB154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729412" y="3119755"/>
                <a:ext cx="2243138" cy="299731"/>
              </a:xfr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=267,85+1,29∗100=396,85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434DD65-29BA-416E-960A-38AE09AB1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729412" y="3119755"/>
                <a:ext cx="2243138" cy="29973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7116799-DFA0-4423-93E5-4D63C6FD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24" y="929283"/>
            <a:ext cx="7877175" cy="857250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F3649815-B008-4748-AD42-9024B49502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412" y="3967820"/>
                <a:ext cx="2243138" cy="2997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19050" tIns="19050" rIns="19050" bIns="19050" anchor="ctr">
                <a:normAutofit fontScale="85000" lnSpcReduction="10000"/>
              </a:bodyPr>
              <a:lstStyle>
                <a:lvl1pPr marL="0" marR="0" indent="0" algn="l" defTabSz="82550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00" b="0" i="0" u="none" strike="noStrike" cap="none" spc="0" baseline="0">
                    <a:ln>
                      <a:noFill/>
                    </a:ln>
                    <a:solidFill>
                      <a:srgbClr val="919191"/>
                    </a:solidFill>
                    <a:uFillTx/>
                    <a:latin typeface="Raleway SemiBold"/>
                    <a:ea typeface="Raleway SemiBold"/>
                    <a:cs typeface="Raleway SemiBold"/>
                    <a:sym typeface="Raleway SemiBold"/>
                  </a:defRPr>
                </a:lvl1pPr>
                <a:lvl2pPr marL="1117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676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2235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7940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33528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911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4470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5029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=267,85+1,29∗200=525,85</m:t>
                      </m:r>
                    </m:oMath>
                  </m:oMathPara>
                </a14:m>
                <a:endParaRPr lang="en-US" sz="1313" dirty="0"/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F3649815-B008-4748-AD42-9024B4950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412" y="3967820"/>
                <a:ext cx="2243138" cy="299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37D2877A-FB06-4296-B19C-57ACA7D487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412" y="4878115"/>
                <a:ext cx="2243138" cy="2997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19050" tIns="19050" rIns="19050" bIns="19050" anchor="ctr">
                <a:normAutofit fontScale="85000" lnSpcReduction="10000"/>
              </a:bodyPr>
              <a:lstStyle>
                <a:lvl1pPr marL="0" marR="0" indent="0" algn="l" defTabSz="82550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00" b="0" i="0" u="none" strike="noStrike" cap="none" spc="0" baseline="0">
                    <a:ln>
                      <a:noFill/>
                    </a:ln>
                    <a:solidFill>
                      <a:srgbClr val="919191"/>
                    </a:solidFill>
                    <a:uFillTx/>
                    <a:latin typeface="Raleway SemiBold"/>
                    <a:ea typeface="Raleway SemiBold"/>
                    <a:cs typeface="Raleway SemiBold"/>
                    <a:sym typeface="Raleway SemiBold"/>
                  </a:defRPr>
                </a:lvl1pPr>
                <a:lvl2pPr marL="1117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676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2235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7940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33528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911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4470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5029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=267,85+1,29∗300=654,85</m:t>
                      </m:r>
                    </m:oMath>
                  </m:oMathPara>
                </a14:m>
                <a:endParaRPr lang="en-US" sz="1313" dirty="0"/>
              </a:p>
            </p:txBody>
          </p:sp>
        </mc:Choice>
        <mc:Fallback xmlns="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37D2877A-FB06-4296-B19C-57ACA7D4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412" y="4878115"/>
                <a:ext cx="2243138" cy="299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7053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8" grpId="0" build="p" animBg="1"/>
      <p:bldP spid="9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8EBD51-B6B5-4097-847D-709E88F41E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33412" y="2071688"/>
                <a:ext cx="6024563" cy="3321239"/>
              </a:xfrm>
            </p:spPr>
            <p:txBody>
              <a:bodyPr anchor="t" anchorCtr="0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=267,85+1,29∗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100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200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Tw Cen MT" panose="020B0602020104020603" pitchFamily="34" charset="77"/>
                </a:endParaRP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Usando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ecuación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la recta, ¿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cuantos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conocimiento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cívico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obtendría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un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estudiante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que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obtiene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300 puntos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en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prueba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 de </a:t>
                </a:r>
                <a:r>
                  <a:rPr lang="en-US" dirty="0" err="1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lenguaje</a:t>
                </a:r>
                <a:r>
                  <a:rPr lang="en-US" dirty="0">
                    <a:solidFill>
                      <a:schemeClr val="tx1"/>
                    </a:solidFill>
                    <a:latin typeface="Tw Cen MT" panose="020B0602020104020603" pitchFamily="34" charset="77"/>
                  </a:rPr>
                  <a:t>? </a:t>
                </a:r>
              </a:p>
              <a:p>
                <a:pPr marL="0" indent="0">
                  <a:buNone/>
                </a:pPr>
                <a:endParaRPr lang="en-US" dirty="0">
                  <a:latin typeface="Tw Cen MT" panose="020B0602020104020603" pitchFamily="34" charset="77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D8EBD51-B6B5-4097-847D-709E88F41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3412" y="2071688"/>
                <a:ext cx="6024563" cy="3321239"/>
              </a:xfrm>
              <a:blipFill>
                <a:blip r:embed="rId2"/>
                <a:stretch>
                  <a:fillRect l="-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434DD65-29BA-416E-960A-38AE09AB154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6729412" y="3119755"/>
                <a:ext cx="2243138" cy="299731"/>
              </a:xfrm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=267,85+1,29∗100=396,85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434DD65-29BA-416E-960A-38AE09AB1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6729412" y="3119755"/>
                <a:ext cx="2243138" cy="29973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7116799-DFA0-4423-93E5-4D63C6FD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24" y="929283"/>
            <a:ext cx="7877175" cy="857250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F3649815-B008-4748-AD42-9024B49502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412" y="3967820"/>
                <a:ext cx="2243138" cy="2997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19050" tIns="19050" rIns="19050" bIns="19050" anchor="ctr">
                <a:normAutofit fontScale="85000" lnSpcReduction="10000"/>
              </a:bodyPr>
              <a:lstStyle>
                <a:lvl1pPr marL="0" marR="0" indent="0" algn="l" defTabSz="82550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00" b="0" i="0" u="none" strike="noStrike" cap="none" spc="0" baseline="0">
                    <a:ln>
                      <a:noFill/>
                    </a:ln>
                    <a:solidFill>
                      <a:srgbClr val="919191"/>
                    </a:solidFill>
                    <a:uFillTx/>
                    <a:latin typeface="Raleway SemiBold"/>
                    <a:ea typeface="Raleway SemiBold"/>
                    <a:cs typeface="Raleway SemiBold"/>
                    <a:sym typeface="Raleway SemiBold"/>
                  </a:defRPr>
                </a:lvl1pPr>
                <a:lvl2pPr marL="1117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676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2235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7940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33528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911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4470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5029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=267,85+1,29∗200=525,85</m:t>
                      </m:r>
                    </m:oMath>
                  </m:oMathPara>
                </a14:m>
                <a:endParaRPr lang="en-US" sz="1313" dirty="0"/>
              </a:p>
            </p:txBody>
          </p:sp>
        </mc:Choice>
        <mc:Fallback xmlns="">
          <p:sp>
            <p:nvSpPr>
              <p:cNvPr id="8" name="Text Placeholder 3">
                <a:extLst>
                  <a:ext uri="{FF2B5EF4-FFF2-40B4-BE49-F238E27FC236}">
                    <a16:creationId xmlns:a16="http://schemas.microsoft.com/office/drawing/2014/main" id="{F3649815-B008-4748-AD42-9024B4950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412" y="3967820"/>
                <a:ext cx="2243138" cy="299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37D2877A-FB06-4296-B19C-57ACA7D487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29412" y="4878115"/>
                <a:ext cx="2243138" cy="29973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19050" tIns="19050" rIns="19050" bIns="19050" anchor="ctr">
                <a:normAutofit fontScale="85000" lnSpcReduction="10000"/>
              </a:bodyPr>
              <a:lstStyle>
                <a:lvl1pPr marL="0" marR="0" indent="0" algn="l" defTabSz="82550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500" b="0" i="0" u="none" strike="noStrike" cap="none" spc="0" baseline="0">
                    <a:ln>
                      <a:noFill/>
                    </a:ln>
                    <a:solidFill>
                      <a:srgbClr val="919191"/>
                    </a:solidFill>
                    <a:uFillTx/>
                    <a:latin typeface="Raleway SemiBold"/>
                    <a:ea typeface="Raleway SemiBold"/>
                    <a:cs typeface="Raleway SemiBold"/>
                    <a:sym typeface="Raleway SemiBold"/>
                  </a:defRPr>
                </a:lvl1pPr>
                <a:lvl2pPr marL="1117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676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2235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7940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๏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33528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9116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44704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5029200" marR="0" indent="-558800" algn="l" defTabSz="825500" latinLnBrk="0">
                  <a:lnSpc>
                    <a:spcPct val="100000"/>
                  </a:lnSpc>
                  <a:spcBef>
                    <a:spcPts val="3000"/>
                  </a:spcBef>
                  <a:spcAft>
                    <a:spcPts val="0"/>
                  </a:spcAft>
                  <a:buClr>
                    <a:srgbClr val="7D8697"/>
                  </a:buClr>
                  <a:buSzPct val="75000"/>
                  <a:buFontTx/>
                  <a:buChar char="•"/>
                  <a:tabLst/>
                  <a:defRPr sz="4500" b="0" i="0" u="none" strike="noStrike" cap="none" spc="0" baseline="0">
                    <a:ln>
                      <a:noFill/>
                    </a:ln>
                    <a:solidFill>
                      <a:srgbClr val="4E4F52"/>
                    </a:solidFill>
                    <a:uFillTx/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3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3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=267,85+1,29∗300=654,85</m:t>
                      </m:r>
                    </m:oMath>
                  </m:oMathPara>
                </a14:m>
                <a:endParaRPr lang="en-US" sz="1313" dirty="0"/>
              </a:p>
            </p:txBody>
          </p:sp>
        </mc:Choice>
        <mc:Fallback xmlns=""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37D2877A-FB06-4296-B19C-57ACA7D48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412" y="4878115"/>
                <a:ext cx="2243138" cy="299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92563E3A-59D2-A239-17AC-C21FED60B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397" y="2904690"/>
            <a:ext cx="4334484" cy="309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8227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8" grpId="0" build="p" animBg="1"/>
      <p:bldP spid="9" grpId="0" build="p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8F0209-5A47-44B6-9EFF-915B533B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9" y="1920478"/>
            <a:ext cx="4179677" cy="3560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05AF7E-080D-4109-AD50-EEF666BEC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876" y="1920478"/>
            <a:ext cx="4363616" cy="3851672"/>
          </a:xfrm>
        </p:spPr>
        <p:txBody>
          <a:bodyPr>
            <a:normAutofit/>
          </a:bodyPr>
          <a:lstStyle/>
          <a:p>
            <a:pPr algn="just"/>
            <a:r>
              <a:rPr lang="es-ES" sz="13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Pendiente estandarizada (</a:t>
            </a:r>
            <a:r>
              <a:rPr lang="el-GR" sz="1350" dirty="0">
                <a:latin typeface="Calibri" charset="0"/>
                <a:ea typeface="Calibri" charset="0"/>
                <a:cs typeface="Calibri" charset="0"/>
              </a:rPr>
              <a:t>β</a:t>
            </a:r>
            <a:r>
              <a:rPr lang="es-ES_tradnl" sz="1350" baseline="-25000" dirty="0">
                <a:latin typeface="Tw Cen MT" panose="020B0602020104020603" pitchFamily="34" charset="0"/>
                <a:ea typeface="Calibri" charset="0"/>
                <a:cs typeface="Calibri" charset="0"/>
              </a:rPr>
              <a:t>1</a:t>
            </a:r>
            <a:r>
              <a:rPr lang="es-ES" sz="1350" b="1" dirty="0">
                <a:latin typeface="Tw Cen MT" panose="020B0602020104020603" pitchFamily="34" charset="0"/>
                <a:ea typeface="Calibri" charset="0"/>
                <a:cs typeface="Calibri" charset="0"/>
              </a:rPr>
              <a:t>): 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Definen la ecuación de regresión  una vez que los puntajes  directos u observados  de ambas  variables  son transformados en puntuaciones típicas o estandarizadas. Corresponde a cuántas desviaciones estándar cambia la VD cuando la VI cambia en 1 desviación estándar.</a:t>
            </a:r>
          </a:p>
          <a:p>
            <a:pPr algn="just"/>
            <a:endParaRPr lang="es-ES_tradnl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algn="just"/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Como obtener los coeficientes Beta: </a:t>
            </a:r>
            <a:r>
              <a:rPr lang="el-GR" sz="1350" dirty="0">
                <a:latin typeface="Calibri" charset="0"/>
                <a:ea typeface="Calibri" charset="0"/>
                <a:cs typeface="Calibri" charset="0"/>
              </a:rPr>
              <a:t>β</a:t>
            </a:r>
            <a:r>
              <a:rPr lang="es-ES_tradnl" sz="1350" baseline="-25000" dirty="0">
                <a:latin typeface="Tw Cen MT" panose="020B0602020104020603" pitchFamily="34" charset="0"/>
                <a:ea typeface="Calibri" charset="0"/>
                <a:cs typeface="Calibri" charset="0"/>
              </a:rPr>
              <a:t>1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= B</a:t>
            </a:r>
            <a:r>
              <a:rPr lang="es-ES_tradnl" sz="1350" baseline="-25000" dirty="0">
                <a:latin typeface="Tw Cen MT" panose="020B0602020104020603" pitchFamily="34" charset="0"/>
                <a:ea typeface="Calibri" charset="0"/>
                <a:cs typeface="Calibri" charset="0"/>
              </a:rPr>
              <a:t>1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 (</a:t>
            </a:r>
            <a:r>
              <a:rPr lang="es-ES_tradnl" sz="1350" dirty="0" err="1">
                <a:latin typeface="Tw Cen MT" panose="020B0602020104020603" pitchFamily="34" charset="0"/>
                <a:ea typeface="Calibri" charset="0"/>
                <a:cs typeface="Calibri" charset="0"/>
              </a:rPr>
              <a:t>S</a:t>
            </a:r>
            <a:r>
              <a:rPr lang="es-ES_tradnl" sz="1350" baseline="-25000" dirty="0" err="1">
                <a:latin typeface="Tw Cen MT" panose="020B0602020104020603" pitchFamily="34" charset="0"/>
                <a:ea typeface="Calibri" charset="0"/>
                <a:cs typeface="Calibri" charset="0"/>
              </a:rPr>
              <a:t>x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/ </a:t>
            </a:r>
            <a:r>
              <a:rPr lang="es-ES_tradnl" sz="1350" dirty="0" err="1">
                <a:latin typeface="Tw Cen MT" panose="020B0602020104020603" pitchFamily="34" charset="0"/>
                <a:ea typeface="Calibri" charset="0"/>
                <a:cs typeface="Calibri" charset="0"/>
              </a:rPr>
              <a:t>S</a:t>
            </a:r>
            <a:r>
              <a:rPr lang="es-ES_tradnl" sz="1350" baseline="-25000" dirty="0" err="1">
                <a:latin typeface="Tw Cen MT" panose="020B0602020104020603" pitchFamily="34" charset="0"/>
                <a:ea typeface="Calibri" charset="0"/>
                <a:cs typeface="Calibri" charset="0"/>
              </a:rPr>
              <a:t>y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)</a:t>
            </a:r>
          </a:p>
          <a:p>
            <a:pPr algn="just">
              <a:buNone/>
            </a:pPr>
            <a:endParaRPr lang="es-ES_tradnl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algn="just"/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Igualdad solo válida para la regresión simple</a:t>
            </a:r>
          </a:p>
          <a:p>
            <a:pPr lvl="1" algn="just"/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Coeficiente </a:t>
            </a:r>
            <a:r>
              <a:rPr lang="el-GR" sz="1350" dirty="0">
                <a:latin typeface="Calibri" charset="0"/>
                <a:ea typeface="Calibri" charset="0"/>
                <a:cs typeface="Calibri" charset="0"/>
              </a:rPr>
              <a:t>β</a:t>
            </a:r>
            <a:r>
              <a:rPr lang="es-ES_tradnl" sz="1350" baseline="-25000" dirty="0">
                <a:latin typeface="Tw Cen MT" panose="020B0602020104020603" pitchFamily="34" charset="0"/>
                <a:ea typeface="Calibri" charset="0"/>
                <a:cs typeface="Calibri" charset="0"/>
              </a:rPr>
              <a:t>1</a:t>
            </a:r>
            <a:r>
              <a:rPr lang="es-ES_tradnl" sz="1350" dirty="0">
                <a:latin typeface="Tw Cen MT" panose="020B0602020104020603" pitchFamily="34" charset="0"/>
                <a:ea typeface="Calibri" charset="0"/>
                <a:cs typeface="Calibri" charset="0"/>
              </a:rPr>
              <a:t> = r (Coeficiente de correlación de Pearson entre las variables). También mantiene el signo que  informa acerca de la dirección de la relación</a:t>
            </a:r>
          </a:p>
          <a:p>
            <a:pPr algn="just"/>
            <a:endParaRPr lang="es-ES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342900" lvl="1" indent="0" algn="just">
              <a:buNone/>
            </a:pPr>
            <a:endParaRPr lang="es-ES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  <a:p>
            <a:pPr marL="342900" lvl="1" indent="0" algn="just">
              <a:buNone/>
            </a:pPr>
            <a:endParaRPr lang="es-ES" sz="1350" dirty="0">
              <a:latin typeface="Tw Cen MT" panose="020B0602020104020603" pitchFamily="34" charset="0"/>
              <a:ea typeface="Calibri" charset="0"/>
              <a:cs typeface="Calibri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C706C9-91CB-4F86-B19D-6809B3D3D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330" y="5041402"/>
            <a:ext cx="1026114" cy="86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755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3229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  <a:latin typeface="Tw Cen MT" panose="020B0602020104020603" pitchFamily="34" charset="0"/>
                <a:ea typeface="Calibri" charset="0"/>
                <a:cs typeface="Calibri" charset="0"/>
              </a:rPr>
              <a:t>Estimación de regresión lineal simple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9799604-5F88-4147-8649-995DD5792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13" y="1852534"/>
            <a:ext cx="4302537" cy="37003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E0D661-A04A-413A-9A05-5C7056B01F9B}"/>
                  </a:ext>
                </a:extLst>
              </p:cNvPr>
              <p:cNvSpPr txBox="1"/>
              <p:nvPr/>
            </p:nvSpPr>
            <p:spPr>
              <a:xfrm>
                <a:off x="5007769" y="1852534"/>
                <a:ext cx="3879056" cy="16158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5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165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1650" i="1">
                          <a:latin typeface="Cambria Math" panose="02040503050406030204" pitchFamily="18" charset="0"/>
                        </a:rPr>
                        <m:t>=267,85+1,29∗</m:t>
                      </m:r>
                      <m:r>
                        <a:rPr lang="es-MX" sz="165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50" dirty="0">
                  <a:latin typeface="Tw Cen MT" panose="020B0602020104020603" pitchFamily="34" charset="77"/>
                </a:endParaRPr>
              </a:p>
              <a:p>
                <a:endParaRPr lang="en-US" sz="1650" dirty="0">
                  <a:latin typeface="Tw Cen MT" panose="020B0602020104020603" pitchFamily="34" charset="77"/>
                </a:endParaRPr>
              </a:p>
              <a:p>
                <a:r>
                  <a:rPr lang="en-US" sz="1650" dirty="0" err="1">
                    <a:latin typeface="Tw Cen MT" panose="020B0602020104020603" pitchFamily="34" charset="77"/>
                  </a:rPr>
                  <a:t>Usando</a:t>
                </a:r>
                <a:r>
                  <a:rPr lang="en-US" sz="1650" dirty="0">
                    <a:latin typeface="Tw Cen MT" panose="020B0602020104020603" pitchFamily="34" charset="77"/>
                  </a:rPr>
                  <a:t> la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ecuación</a:t>
                </a:r>
                <a:r>
                  <a:rPr lang="en-US" sz="1650" dirty="0">
                    <a:latin typeface="Tw Cen MT" panose="020B0602020104020603" pitchFamily="34" charset="77"/>
                  </a:rPr>
                  <a:t> de la recta, ¿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cuantos</a:t>
                </a:r>
                <a:r>
                  <a:rPr lang="en-US" sz="1650" dirty="0">
                    <a:latin typeface="Tw Cen MT" panose="020B0602020104020603" pitchFamily="34" charset="77"/>
                  </a:rPr>
                  <a:t> puntos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en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conocimiento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cívico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obtendría</a:t>
                </a:r>
                <a:r>
                  <a:rPr lang="en-US" sz="1650" dirty="0">
                    <a:latin typeface="Tw Cen MT" panose="020B0602020104020603" pitchFamily="34" charset="77"/>
                  </a:rPr>
                  <a:t> un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estudiante</a:t>
                </a:r>
                <a:r>
                  <a:rPr lang="en-US" sz="1650" dirty="0">
                    <a:latin typeface="Tw Cen MT" panose="020B0602020104020603" pitchFamily="34" charset="77"/>
                  </a:rPr>
                  <a:t> que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proviene</a:t>
                </a:r>
                <a:r>
                  <a:rPr lang="en-US" sz="1650" dirty="0">
                    <a:latin typeface="Tw Cen MT" panose="020B0602020104020603" pitchFamily="34" charset="77"/>
                  </a:rPr>
                  <a:t> de una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familia</a:t>
                </a:r>
                <a:r>
                  <a:rPr lang="en-US" sz="1650" dirty="0">
                    <a:latin typeface="Tw Cen MT" panose="020B0602020104020603" pitchFamily="34" charset="77"/>
                  </a:rPr>
                  <a:t> con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el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máximo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nivel</a:t>
                </a:r>
                <a:r>
                  <a:rPr lang="en-US" sz="1650" dirty="0">
                    <a:latin typeface="Tw Cen MT" panose="020B0602020104020603" pitchFamily="34" charset="77"/>
                  </a:rPr>
                  <a:t> </a:t>
                </a:r>
                <a:r>
                  <a:rPr lang="en-US" sz="1650" dirty="0" err="1">
                    <a:latin typeface="Tw Cen MT" panose="020B0602020104020603" pitchFamily="34" charset="77"/>
                  </a:rPr>
                  <a:t>educacional</a:t>
                </a:r>
                <a:r>
                  <a:rPr lang="en-US" sz="1650" dirty="0">
                    <a:latin typeface="Tw Cen MT" panose="020B0602020104020603" pitchFamily="34" charset="77"/>
                  </a:rPr>
                  <a:t> (4)?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E0D661-A04A-413A-9A05-5C7056B01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769" y="1852534"/>
                <a:ext cx="3879056" cy="1615827"/>
              </a:xfrm>
              <a:prstGeom prst="rect">
                <a:avLst/>
              </a:prstGeom>
              <a:blipFill>
                <a:blip r:embed="rId4"/>
                <a:stretch>
                  <a:fillRect l="-980" r="-327" b="-387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CC0383-B7F2-472B-8FAF-CEE0E1F9CF79}"/>
                  </a:ext>
                </a:extLst>
              </p:cNvPr>
              <p:cNvSpPr txBox="1"/>
              <p:nvPr/>
            </p:nvSpPr>
            <p:spPr>
              <a:xfrm>
                <a:off x="4572000" y="3602125"/>
                <a:ext cx="4572000" cy="7155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25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25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MX" sz="2025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025" i="1">
                          <a:latin typeface="Cambria Math" panose="02040503050406030204" pitchFamily="18" charset="0"/>
                        </a:rPr>
                        <m:t>=483,497+19,409∗4=</m:t>
                      </m:r>
                    </m:oMath>
                  </m:oMathPara>
                </a14:m>
                <a:endParaRPr lang="es-MX" sz="2025" dirty="0">
                  <a:latin typeface="Cambria" panose="02040503050406030204" pitchFamily="18" charset="0"/>
                </a:endParaRPr>
              </a:p>
              <a:p>
                <a:r>
                  <a:rPr lang="en-US" sz="2025" dirty="0">
                    <a:latin typeface="Cambria" panose="02040503050406030204" pitchFamily="18" charset="0"/>
                  </a:rPr>
                  <a:t>561,133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CC0383-B7F2-472B-8FAF-CEE0E1F9C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602125"/>
                <a:ext cx="4572000" cy="715581"/>
              </a:xfrm>
              <a:prstGeom prst="rect">
                <a:avLst/>
              </a:prstGeom>
              <a:blipFill>
                <a:blip r:embed="rId5"/>
                <a:stretch>
                  <a:fillRect l="-1389" b="-1578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46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Times New Roman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6862</TotalTime>
  <Words>3661</Words>
  <Application>Microsoft Macintosh PowerPoint</Application>
  <PresentationFormat>On-screen Show (4:3)</PresentationFormat>
  <Paragraphs>649</Paragraphs>
  <Slides>69</Slides>
  <Notes>50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69</vt:i4>
      </vt:variant>
    </vt:vector>
  </HeadingPairs>
  <TitlesOfParts>
    <vt:vector size="85" baseType="lpstr">
      <vt:lpstr>Arial</vt:lpstr>
      <vt:lpstr>Calibri</vt:lpstr>
      <vt:lpstr>Cambria</vt:lpstr>
      <vt:lpstr>Cambria Math</vt:lpstr>
      <vt:lpstr>Courier</vt:lpstr>
      <vt:lpstr>Raleway SemiBold</vt:lpstr>
      <vt:lpstr>Symbol</vt:lpstr>
      <vt:lpstr>Times</vt:lpstr>
      <vt:lpstr>Times New Roman</vt:lpstr>
      <vt:lpstr>Trebuchet MS</vt:lpstr>
      <vt:lpstr>Tw Cen MT</vt:lpstr>
      <vt:lpstr>Wingdings</vt:lpstr>
      <vt:lpstr>Office Theme</vt:lpstr>
      <vt:lpstr>Ecuación</vt:lpstr>
      <vt:lpstr>EcuaciÛn</vt:lpstr>
      <vt:lpstr>Equation</vt:lpstr>
      <vt:lpstr>Asociación de variables</vt:lpstr>
      <vt:lpstr>Contenidos</vt:lpstr>
      <vt:lpstr>Chi-cuadrado</vt:lpstr>
      <vt:lpstr>Prueba c2</vt:lpstr>
      <vt:lpstr>PowerPoint Presentation</vt:lpstr>
      <vt:lpstr>¿Qué asociación habría entre estas dos variables?</vt:lpstr>
      <vt:lpstr>y en esta distribución ¿qué asociación habría entre estas dos variables?</vt:lpstr>
      <vt:lpstr>Formula abreviada de c2 en tablas de contingencia de 2 X 2 con 1 grado de libertad</vt:lpstr>
      <vt:lpstr>Formula abreviada de c2 en tablas de contingencia de 2 X 2 con 1 grado de libertad</vt:lpstr>
      <vt:lpstr>¿Cuáles serían las frecuencias esperadas en base a la hipótesis nula?</vt:lpstr>
      <vt:lpstr>c2:  la fórmula</vt:lpstr>
      <vt:lpstr>c2:  la fórmula</vt:lpstr>
      <vt:lpstr>Formula abreviada de c2 en tablas de contingencia de 2 X 2 con 1 grado de libertad</vt:lpstr>
      <vt:lpstr>Grados de libertad</vt:lpstr>
      <vt:lpstr>Distribución c2 Puntos de corte (equivalentes a z = 1.96)</vt:lpstr>
      <vt:lpstr>Distribución c2</vt:lpstr>
      <vt:lpstr>Resultados basados en Danuser, B., Moser, D., Vitale-Sethre, T., Hirsig, R., &amp; Krueger, H. (2003). Performance in a Complex Task and Breathing under Odor Exposure. Human Factors: The Journal of the Human Factors and Ergonomics Society, 45(4), 549-562.</vt:lpstr>
      <vt:lpstr>PowerPoint Presentation</vt:lpstr>
      <vt:lpstr>c2:  supuestos</vt:lpstr>
      <vt:lpstr>Veamos a un ejemplo</vt:lpstr>
      <vt:lpstr>Ejemplo c2 : Delincuencia y zona habitacional</vt:lpstr>
      <vt:lpstr>Ejemplo c2 : Delincuencia y zona habitacional</vt:lpstr>
      <vt:lpstr>Ejemplo c2 : Delincuencia y zona habitacional</vt:lpstr>
      <vt:lpstr>Ejemplo c2 : Delincuencia y zona habitacional</vt:lpstr>
      <vt:lpstr>Distribución c2 Puntos de corte (equivalentes a z = 1.96)</vt:lpstr>
      <vt:lpstr>Distribución c2</vt:lpstr>
      <vt:lpstr>En R: librería gmodels</vt:lpstr>
      <vt:lpstr>En R básico</vt:lpstr>
      <vt:lpstr>c2 :  supuestos</vt:lpstr>
      <vt:lpstr>Resumiendo Prueba c2</vt:lpstr>
      <vt:lpstr>Correlación</vt:lpstr>
      <vt:lpstr>Asociación entre variables</vt:lpstr>
      <vt:lpstr>Estadísticas Bivariadas Asociación de variables</vt:lpstr>
      <vt:lpstr>Estadísticas Bivariadas Asociación de variables</vt:lpstr>
      <vt:lpstr>Estadísticas Bivariadas Asociación de variables</vt:lpstr>
      <vt:lpstr>Tamaño de la relación</vt:lpstr>
      <vt:lpstr>Correlaciones positivas y negativas</vt:lpstr>
      <vt:lpstr>¿Cómo sabemos si la correlación es significativa?</vt:lpstr>
      <vt:lpstr>PowerPoint Presentation</vt:lpstr>
      <vt:lpstr>r2 Varianza Explicada (o compartida)</vt:lpstr>
      <vt:lpstr>Varianza explicada</vt:lpstr>
      <vt:lpstr>¿Logro en lenguaje se relaciona con logro en conocimiento cívico?</vt:lpstr>
      <vt:lpstr>PowerPoint Presentation</vt:lpstr>
      <vt:lpstr>¿Cómo sabemos si la correlación es significativa?</vt:lpstr>
      <vt:lpstr>¿Cómo sabemos si la correlación es significativa?</vt:lpstr>
      <vt:lpstr>r2 Varianza Explicada (o compartida)</vt:lpstr>
      <vt:lpstr>Varianza explicada</vt:lpstr>
      <vt:lpstr>Regresión Lineal</vt:lpstr>
      <vt:lpstr>Regresión lineal</vt:lpstr>
      <vt:lpstr>¿Para qué sirve?</vt:lpstr>
      <vt:lpstr>Regresión Lineal Simple</vt:lpstr>
      <vt:lpstr>Regresión lineal</vt:lpstr>
      <vt:lpstr>PowerPoint Presentation</vt:lpstr>
      <vt:lpstr>Ecuación de Regresión</vt:lpstr>
      <vt:lpstr>Ecuación de Regresión</vt:lpstr>
      <vt:lpstr>Indicadores de Regresión.</vt:lpstr>
      <vt:lpstr>Un ejemplo </vt:lpstr>
      <vt:lpstr>Un ejemplo </vt:lpstr>
      <vt:lpstr>Exploración gráfica</vt:lpstr>
      <vt:lpstr>Exploración correlacional</vt:lpstr>
      <vt:lpstr>Exploración correlacional</vt:lpstr>
      <vt:lpstr>Estimación de regresión lineal simple</vt:lpstr>
      <vt:lpstr>Estimación de regresión lineal simple</vt:lpstr>
      <vt:lpstr>Tabla Distribución F</vt:lpstr>
      <vt:lpstr>Estimación de regresión lineal simple</vt:lpstr>
      <vt:lpstr>Estimación de regresión lineal simple</vt:lpstr>
      <vt:lpstr>Estimación de regresión lineal simple</vt:lpstr>
      <vt:lpstr>Estimación de regresión lineal simple</vt:lpstr>
      <vt:lpstr>Estimación de regresión lineal simple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Medidas de Tendencia Central</dc:title>
  <dc:creator>Pablo De Tezanos-Pinto</dc:creator>
  <cp:lastModifiedBy>DANIEL  ANDRÉS MIRANDA FUENZALIDA</cp:lastModifiedBy>
  <cp:revision>201</cp:revision>
  <cp:lastPrinted>2019-05-14T15:41:33Z</cp:lastPrinted>
  <dcterms:created xsi:type="dcterms:W3CDTF">2011-03-16T16:20:53Z</dcterms:created>
  <dcterms:modified xsi:type="dcterms:W3CDTF">2026-05-12T04:32:00Z</dcterms:modified>
</cp:coreProperties>
</file>